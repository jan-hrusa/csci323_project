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99" autoAdjust="0"/>
    <p:restoredTop sz="84446" autoAdjust="0"/>
  </p:normalViewPr>
  <p:slideViewPr>
    <p:cSldViewPr snapToGrid="0">
      <p:cViewPr varScale="1">
        <p:scale>
          <a:sx n="80" d="100"/>
          <a:sy n="80" d="100"/>
        </p:scale>
        <p:origin x="739" y="67"/>
      </p:cViewPr>
      <p:guideLst/>
    </p:cSldViewPr>
  </p:slideViewPr>
  <p:notesTextViewPr>
    <p:cViewPr>
      <p:scale>
        <a:sx n="1" d="1"/>
        <a:sy n="1" d="1"/>
      </p:scale>
      <p:origin x="0" y="-56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3DA3190-79AC-CC4F-F18E-5253C309BC6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CSCI323 - Modern Artificial Intelligence</a:t>
            </a:r>
          </a:p>
        </p:txBody>
      </p:sp>
      <p:sp>
        <p:nvSpPr>
          <p:cNvPr id="3" name="Date Placeholder 2">
            <a:extLst>
              <a:ext uri="{FF2B5EF4-FFF2-40B4-BE49-F238E27FC236}">
                <a16:creationId xmlns:a16="http://schemas.microsoft.com/office/drawing/2014/main" id="{4D067F50-3F16-D8F2-F3C8-91DE1EBCC28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A7504D-371C-45F7-A63A-ED4C73B17BBF}" type="datetimeFigureOut">
              <a:rPr lang="en-US" smtClean="0"/>
              <a:t>6/21/2026</a:t>
            </a:fld>
            <a:endParaRPr lang="en-US"/>
          </a:p>
        </p:txBody>
      </p:sp>
      <p:sp>
        <p:nvSpPr>
          <p:cNvPr id="4" name="Footer Placeholder 3">
            <a:extLst>
              <a:ext uri="{FF2B5EF4-FFF2-40B4-BE49-F238E27FC236}">
                <a16:creationId xmlns:a16="http://schemas.microsoft.com/office/drawing/2014/main" id="{F70C5F42-84A6-2AFC-8F8E-372B5A28355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University of Wollongong Dubai | Spring 2026</a:t>
            </a:r>
          </a:p>
        </p:txBody>
      </p:sp>
      <p:sp>
        <p:nvSpPr>
          <p:cNvPr id="5" name="Slide Number Placeholder 4">
            <a:extLst>
              <a:ext uri="{FF2B5EF4-FFF2-40B4-BE49-F238E27FC236}">
                <a16:creationId xmlns:a16="http://schemas.microsoft.com/office/drawing/2014/main" id="{34668598-CEAE-615F-944C-CD76852FC42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D598C0D-80C0-4AFF-9F6A-060B6028F1BA}" type="slidenum">
              <a:rPr lang="en-US" smtClean="0"/>
              <a:t>‹#›</a:t>
            </a:fld>
            <a:endParaRPr lang="en-US"/>
          </a:p>
        </p:txBody>
      </p:sp>
    </p:spTree>
    <p:extLst>
      <p:ext uri="{BB962C8B-B14F-4D97-AF65-F5344CB8AC3E}">
        <p14:creationId xmlns:p14="http://schemas.microsoft.com/office/powerpoint/2010/main" val="202646588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CSCI323 - Modern Artificial Intelligence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6851BB-9A88-40B2-A0DB-DE0179DE8C5C}" type="datetimeFigureOut">
              <a:rPr lang="en-US" smtClean="0"/>
              <a:t>6/21/2026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University of Wollongong Dubai | Spring 2026</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930869-CCF3-4E8F-8A15-3E01B138CBA3}" type="slidenum">
              <a:rPr lang="en-US" smtClean="0"/>
              <a:t>‹#›</a:t>
            </a:fld>
            <a:endParaRPr lang="en-US"/>
          </a:p>
        </p:txBody>
      </p:sp>
    </p:spTree>
    <p:extLst>
      <p:ext uri="{BB962C8B-B14F-4D97-AF65-F5344CB8AC3E}">
        <p14:creationId xmlns:p14="http://schemas.microsoft.com/office/powerpoint/2010/main" val="2319944351"/>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Briefly introduce yourselves and give a one-sentence teaser </a:t>
            </a:r>
            <a:r>
              <a:rPr lang="cs-CZ" dirty="0"/>
              <a:t>–</a:t>
            </a:r>
            <a:r>
              <a:rPr lang="en-GB" dirty="0"/>
              <a:t> "We built a machine learning system that can estimate UAE residential property prices in seconds, based on data from over 5,000 real listings."</a:t>
            </a:r>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1</a:t>
            </a:fld>
            <a:endParaRPr lang="en-US"/>
          </a:p>
        </p:txBody>
      </p:sp>
    </p:spTree>
    <p:extLst>
      <p:ext uri="{BB962C8B-B14F-4D97-AF65-F5344CB8AC3E}">
        <p14:creationId xmlns:p14="http://schemas.microsoft.com/office/powerpoint/2010/main" val="1397968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Paint the business problem vividly. Mention Property Finder, </a:t>
            </a:r>
            <a:r>
              <a:rPr lang="en-GB" dirty="0" err="1"/>
              <a:t>Bayut</a:t>
            </a:r>
            <a:r>
              <a:rPr lang="en-GB" dirty="0"/>
              <a:t>, and </a:t>
            </a:r>
            <a:r>
              <a:rPr lang="en-GB" dirty="0" err="1"/>
              <a:t>Dubizzle</a:t>
            </a:r>
            <a:r>
              <a:rPr lang="en-GB" dirty="0"/>
              <a:t> as examples of platforms with thousands of structured listings </a:t>
            </a:r>
            <a:r>
              <a:rPr lang="cs-CZ" dirty="0"/>
              <a:t>–</a:t>
            </a:r>
            <a:r>
              <a:rPr lang="en-GB" dirty="0"/>
              <a:t> data that exists but isn't being used to automate valuation. The core tension is: complex market, slow manual process, growing demand.</a:t>
            </a:r>
            <a:endParaRPr lang="cs-CZ" dirty="0"/>
          </a:p>
          <a:p>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UAE is one of the world's most dynamic real estate markets, driven by the Golden Visa, zero tax policy, and global investor interest</a:t>
            </a:r>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Prices vary enormously by location, size, furnishing, amenities, and market timing</a:t>
            </a:r>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Demand for valuations is growing faster than the supply of qualified appraisers</a:t>
            </a:r>
            <a:endParaRPr lang="en-US" dirty="0"/>
          </a:p>
          <a:p>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2</a:t>
            </a:fld>
            <a:endParaRPr lang="en-US"/>
          </a:p>
        </p:txBody>
      </p:sp>
    </p:spTree>
    <p:extLst>
      <p:ext uri="{BB962C8B-B14F-4D97-AF65-F5344CB8AC3E}">
        <p14:creationId xmlns:p14="http://schemas.microsoft.com/office/powerpoint/2010/main" val="8302030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Emphasize the "why AI" argument clearly </a:t>
            </a:r>
            <a:r>
              <a:rPr lang="cs-CZ" dirty="0"/>
              <a:t>–</a:t>
            </a:r>
            <a:r>
              <a:rPr lang="en-GB" dirty="0"/>
              <a:t> the problem is not just "can a computer do this" but "only a computer can do this at scale." Mention that feature importance metrics also give stakeholders explainable insights, unlike a black-box appraiser.</a:t>
            </a:r>
            <a:endParaRPr lang="cs-CZ" dirty="0"/>
          </a:p>
          <a:p>
            <a:endParaRPr lang="cs-CZ" dirty="0"/>
          </a:p>
          <a:p>
            <a:r>
              <a:rPr lang="en-GB" dirty="0"/>
              <a:t>Traditional methods can't scale</a:t>
            </a:r>
            <a:endParaRPr lang="cs-CZ" dirty="0"/>
          </a:p>
          <a:p>
            <a:pPr lvl="1"/>
            <a:r>
              <a:rPr lang="cs-CZ" dirty="0"/>
              <a:t>A</a:t>
            </a:r>
            <a:r>
              <a:rPr lang="en-GB" dirty="0"/>
              <a:t> human appraiser can't evaluate 5,000 listings per second</a:t>
            </a:r>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Comparable-sales methods miss fine-grained property interactions (e.g., size × location × furnishing)</a:t>
            </a:r>
            <a:endParaRPr lang="cs-CZ" dirty="0"/>
          </a:p>
          <a:p>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3</a:t>
            </a:fld>
            <a:endParaRPr lang="en-US"/>
          </a:p>
        </p:txBody>
      </p:sp>
    </p:spTree>
    <p:extLst>
      <p:ext uri="{BB962C8B-B14F-4D97-AF65-F5344CB8AC3E}">
        <p14:creationId xmlns:p14="http://schemas.microsoft.com/office/powerpoint/2010/main" val="1090628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Stress that preprocessing was the single biggest driver of model performance improvement </a:t>
            </a:r>
            <a:r>
              <a:rPr lang="cs-CZ" dirty="0"/>
              <a:t>–</a:t>
            </a:r>
            <a:r>
              <a:rPr lang="en-GB" dirty="0"/>
              <a:t> over 30% gain came from better data handling alone, before any model tuning. The log price transformation is a key decision that mirrors standard real estate ML practice.</a:t>
            </a:r>
            <a:endParaRPr lang="cs-CZ" dirty="0"/>
          </a:p>
          <a:p>
            <a:endParaRPr lang="cs-CZ" dirty="0"/>
          </a:p>
          <a:p>
            <a:r>
              <a:rPr lang="cs-CZ" dirty="0" err="1"/>
              <a:t>Imputed</a:t>
            </a:r>
            <a:r>
              <a:rPr lang="cs-CZ" dirty="0"/>
              <a:t> </a:t>
            </a:r>
            <a:r>
              <a:rPr lang="cs-CZ" dirty="0" err="1"/>
              <a:t>bedrooms</a:t>
            </a:r>
            <a:r>
              <a:rPr lang="cs-CZ" dirty="0"/>
              <a:t> and </a:t>
            </a:r>
            <a:r>
              <a:rPr lang="cs-CZ" dirty="0" err="1"/>
              <a:t>bathrooms</a:t>
            </a:r>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4</a:t>
            </a:fld>
            <a:endParaRPr lang="en-US"/>
          </a:p>
        </p:txBody>
      </p:sp>
    </p:spTree>
    <p:extLst>
      <p:ext uri="{BB962C8B-B14F-4D97-AF65-F5344CB8AC3E}">
        <p14:creationId xmlns:p14="http://schemas.microsoft.com/office/powerpoint/2010/main" val="820169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Explain why ratio features matter </a:t>
            </a:r>
            <a:r>
              <a:rPr lang="cs-CZ" dirty="0"/>
              <a:t>–</a:t>
            </a:r>
            <a:r>
              <a:rPr lang="en-GB" dirty="0"/>
              <a:t> raw bedroom count doesn't tell you if a property is spacious or cramped. The </a:t>
            </a:r>
            <a:r>
              <a:rPr lang="en-GB" dirty="0" err="1"/>
              <a:t>TargetEncoder</a:t>
            </a:r>
            <a:r>
              <a:rPr lang="en-GB" dirty="0"/>
              <a:t> for location is important: it encodes the area-city string as the mean price of similar listings</a:t>
            </a:r>
            <a:r>
              <a:rPr lang="cs-CZ" dirty="0"/>
              <a:t> </a:t>
            </a:r>
            <a:r>
              <a:rPr lang="en-GB" dirty="0"/>
              <a:t>but uses cross-fitting internally so training data doesn't leak into its own encoding. The entire preprocessing + model is one single </a:t>
            </a:r>
            <a:r>
              <a:rPr lang="en-GB" dirty="0" err="1"/>
              <a:t>sklearn</a:t>
            </a:r>
            <a:r>
              <a:rPr lang="en-GB" dirty="0"/>
              <a:t> Pipeline object, serialized to </a:t>
            </a:r>
            <a:r>
              <a:rPr lang="en-GB" dirty="0" err="1"/>
              <a:t>predictor.pkl</a:t>
            </a:r>
            <a:r>
              <a:rPr lang="en-GB" dirty="0"/>
              <a:t>.</a:t>
            </a:r>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5</a:t>
            </a:fld>
            <a:endParaRPr lang="en-US"/>
          </a:p>
        </p:txBody>
      </p:sp>
    </p:spTree>
    <p:extLst>
      <p:ext uri="{BB962C8B-B14F-4D97-AF65-F5344CB8AC3E}">
        <p14:creationId xmlns:p14="http://schemas.microsoft.com/office/powerpoint/2010/main" val="1790787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Explain the design rationale </a:t>
            </a:r>
            <a:r>
              <a:rPr lang="cs-CZ" dirty="0"/>
              <a:t>– </a:t>
            </a:r>
            <a:r>
              <a:rPr lang="en-GB" dirty="0"/>
              <a:t>you want a spectrum from linear to complex to understand whether complexity pays off. The stratified split ensures the test set has the same price distribution as training, so you're not accidentally testing only on mid-range properties.</a:t>
            </a:r>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6</a:t>
            </a:fld>
            <a:endParaRPr lang="en-US"/>
          </a:p>
        </p:txBody>
      </p:sp>
    </p:spTree>
    <p:extLst>
      <p:ext uri="{BB962C8B-B14F-4D97-AF65-F5344CB8AC3E}">
        <p14:creationId xmlns:p14="http://schemas.microsoft.com/office/powerpoint/2010/main" val="11014999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Emphasize that by including preprocessing choices inside the search, you got genuinely optimal end-to-end pipelines, not just optimal models with sub-optimal preprocessing. This is a best practice many teams miss.</a:t>
            </a:r>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7</a:t>
            </a:fld>
            <a:endParaRPr lang="en-US"/>
          </a:p>
        </p:txBody>
      </p:sp>
    </p:spTree>
    <p:extLst>
      <p:ext uri="{BB962C8B-B14F-4D97-AF65-F5344CB8AC3E}">
        <p14:creationId xmlns:p14="http://schemas.microsoft.com/office/powerpoint/2010/main" val="452372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HGB edged out </a:t>
            </a:r>
            <a:r>
              <a:rPr lang="en-GB" dirty="0" err="1"/>
              <a:t>CatBoost</a:t>
            </a:r>
            <a:r>
              <a:rPr lang="en-GB" dirty="0"/>
              <a:t> by a small margin</a:t>
            </a:r>
            <a:r>
              <a:rPr lang="cs-CZ" dirty="0"/>
              <a:t>. </a:t>
            </a:r>
            <a:r>
              <a:rPr lang="cs-CZ" dirty="0" err="1"/>
              <a:t>Explain</a:t>
            </a:r>
            <a:r>
              <a:rPr lang="cs-CZ" dirty="0"/>
              <a:t> </a:t>
            </a:r>
            <a:r>
              <a:rPr lang="cs-CZ" dirty="0" err="1"/>
              <a:t>the</a:t>
            </a:r>
            <a:r>
              <a:rPr lang="cs-CZ" dirty="0"/>
              <a:t> </a:t>
            </a:r>
            <a:r>
              <a:rPr lang="cs-CZ" dirty="0" err="1"/>
              <a:t>pictures</a:t>
            </a:r>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8</a:t>
            </a:fld>
            <a:endParaRPr lang="en-US"/>
          </a:p>
        </p:txBody>
      </p:sp>
    </p:spTree>
    <p:extLst>
      <p:ext uri="{BB962C8B-B14F-4D97-AF65-F5344CB8AC3E}">
        <p14:creationId xmlns:p14="http://schemas.microsoft.com/office/powerpoint/2010/main" val="12329016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Put the RMSE in context </a:t>
            </a:r>
            <a:r>
              <a:rPr lang="cs-CZ" dirty="0"/>
              <a:t>– </a:t>
            </a:r>
            <a:r>
              <a:rPr lang="en-GB" dirty="0"/>
              <a:t>the median cleaned property price is AED 2.35M, so the MAE of ~AED 580k is roughly a 25% band, which is acceptable for a first-pass estimate from basic inputs. Mention the actual-vs-predicted chart and residual plot here as visual proof.</a:t>
            </a:r>
            <a:r>
              <a:rPr lang="cs-CZ" dirty="0"/>
              <a:t> </a:t>
            </a:r>
            <a:r>
              <a:rPr lang="cs-CZ" dirty="0" err="1"/>
              <a:t>Explain</a:t>
            </a:r>
            <a:r>
              <a:rPr lang="cs-CZ" dirty="0"/>
              <a:t> </a:t>
            </a:r>
            <a:r>
              <a:rPr lang="cs-CZ" dirty="0" err="1"/>
              <a:t>why</a:t>
            </a:r>
            <a:r>
              <a:rPr lang="cs-CZ" dirty="0"/>
              <a:t> </a:t>
            </a:r>
            <a:r>
              <a:rPr lang="cs-CZ" dirty="0" err="1"/>
              <a:t>the</a:t>
            </a:r>
            <a:r>
              <a:rPr lang="cs-CZ" dirty="0"/>
              <a:t> log-</a:t>
            </a:r>
            <a:r>
              <a:rPr lang="cs-CZ" dirty="0" err="1"/>
              <a:t>scale</a:t>
            </a:r>
            <a:r>
              <a:rPr lang="cs-CZ" dirty="0"/>
              <a:t> R2 </a:t>
            </a:r>
            <a:r>
              <a:rPr lang="cs-CZ" dirty="0" err="1"/>
              <a:t>was</a:t>
            </a:r>
            <a:r>
              <a:rPr lang="cs-CZ" dirty="0"/>
              <a:t> </a:t>
            </a:r>
            <a:r>
              <a:rPr lang="cs-CZ" dirty="0" err="1"/>
              <a:t>higher</a:t>
            </a:r>
            <a:r>
              <a:rPr lang="cs-CZ" dirty="0"/>
              <a:t>.</a:t>
            </a:r>
          </a:p>
          <a:p>
            <a:endParaRPr lang="cs-CZ" dirty="0"/>
          </a:p>
          <a:p>
            <a:pPr>
              <a:buFont typeface="Arial" panose="020B0604020202020204" pitchFamily="34" charset="0"/>
              <a:buChar char="•"/>
            </a:pPr>
            <a:r>
              <a:rPr lang="en-GB" dirty="0"/>
              <a:t>Model explains </a:t>
            </a:r>
            <a:r>
              <a:rPr lang="en-GB" b="1" dirty="0"/>
              <a:t>78% of price variance</a:t>
            </a:r>
            <a:r>
              <a:rPr lang="en-GB" dirty="0"/>
              <a:t> on entirely unseen data</a:t>
            </a:r>
          </a:p>
          <a:p>
            <a:pPr>
              <a:buFont typeface="Arial" panose="020B0604020202020204" pitchFamily="34" charset="0"/>
              <a:buChar char="•"/>
            </a:pPr>
            <a:r>
              <a:rPr lang="en-GB" dirty="0"/>
              <a:t>Lower-priced properties (AED 500k–3M) cluster tightly around the ideal prediction line</a:t>
            </a:r>
          </a:p>
          <a:p>
            <a:pPr>
              <a:buFont typeface="Arial" panose="020B0604020202020204" pitchFamily="34" charset="0"/>
              <a:buChar char="•"/>
            </a:pPr>
            <a:r>
              <a:rPr lang="en-GB" dirty="0"/>
              <a:t>Higher-priced properties show more scatter</a:t>
            </a:r>
            <a:endParaRPr lang="en-US" dirty="0"/>
          </a:p>
          <a:p>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9</a:t>
            </a:fld>
            <a:endParaRPr lang="en-US"/>
          </a:p>
        </p:txBody>
      </p:sp>
    </p:spTree>
    <p:extLst>
      <p:ext uri="{BB962C8B-B14F-4D97-AF65-F5344CB8AC3E}">
        <p14:creationId xmlns:p14="http://schemas.microsoft.com/office/powerpoint/2010/main" val="9173945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Make this concrete for non-technical audience members. The savings are real: if a real estate portal has 10,000 listings per month and each valuation costs AED 2,000 manually, that's AED 20M per month. The model replaces that with negligible compute cost.</a:t>
            </a:r>
            <a:endParaRPr lang="cs-CZ" dirty="0"/>
          </a:p>
          <a:p>
            <a:endParaRPr lang="cs-CZ" dirty="0"/>
          </a:p>
          <a:p>
            <a:r>
              <a:rPr lang="en-GB" b="1" dirty="0"/>
              <a:t>1. Time savings</a:t>
            </a:r>
            <a:br>
              <a:rPr lang="en-GB" dirty="0"/>
            </a:br>
            <a:r>
              <a:rPr lang="en-GB" dirty="0"/>
              <a:t>Manual appraisal takes 1–3 working days and costs AED 1,500–5,000 per property.</a:t>
            </a:r>
            <a:br>
              <a:rPr lang="en-GB" dirty="0"/>
            </a:br>
            <a:r>
              <a:rPr lang="en-GB" dirty="0"/>
              <a:t>→ The model runs in under a second at near-zero marginal cost.</a:t>
            </a:r>
          </a:p>
          <a:p>
            <a:r>
              <a:rPr lang="en-GB" b="1" dirty="0"/>
              <a:t>2. Scale</a:t>
            </a:r>
            <a:br>
              <a:rPr lang="en-GB" dirty="0"/>
            </a:br>
            <a:r>
              <a:rPr lang="en-GB" dirty="0"/>
              <a:t>One trained model handles 5,000+ valuations simultaneously — humanly impossible.</a:t>
            </a:r>
          </a:p>
          <a:p>
            <a:r>
              <a:rPr lang="en-GB" b="1" dirty="0"/>
              <a:t>3. Pricing guidance</a:t>
            </a:r>
            <a:br>
              <a:rPr lang="en-GB" dirty="0"/>
            </a:br>
            <a:r>
              <a:rPr lang="en-GB" dirty="0"/>
              <a:t>Agents can use MAE as a confidence band around a listing price (e.g., ±12.5% on AED 2M properties).</a:t>
            </a:r>
          </a:p>
          <a:p>
            <a:r>
              <a:rPr lang="en-GB" b="1" dirty="0"/>
              <a:t>4. Bias reduction</a:t>
            </a:r>
            <a:br>
              <a:rPr lang="en-GB" dirty="0"/>
            </a:br>
            <a:r>
              <a:rPr lang="en-GB" dirty="0"/>
              <a:t>The model applies identical feature weightings to every property, eliminating individual agent subjectivity.</a:t>
            </a:r>
          </a:p>
          <a:p>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10</a:t>
            </a:fld>
            <a:endParaRPr lang="en-US"/>
          </a:p>
        </p:txBody>
      </p:sp>
    </p:spTree>
    <p:extLst>
      <p:ext uri="{BB962C8B-B14F-4D97-AF65-F5344CB8AC3E}">
        <p14:creationId xmlns:p14="http://schemas.microsoft.com/office/powerpoint/2010/main" val="20875856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 honest and specific </a:t>
            </a:r>
            <a:r>
              <a:rPr lang="cs-CZ" dirty="0"/>
              <a:t>– </a:t>
            </a:r>
            <a:r>
              <a:rPr lang="en-GB" dirty="0"/>
              <a:t>good limitations discussion shows intellectual maturity. The listing vs. transaction price gap is a big one; DLD (Dubai Land Department) transaction records would be the fix for a production system.</a:t>
            </a:r>
            <a:endParaRPr lang="cs-CZ" dirty="0"/>
          </a:p>
          <a:p>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5,058 records is small for a market as diverse as the UAE especially hurts </a:t>
            </a:r>
            <a:r>
              <a:rPr lang="en-GB" dirty="0" err="1"/>
              <a:t>TargetEncoder</a:t>
            </a:r>
            <a:r>
              <a:rPr lang="en-GB" dirty="0"/>
              <a:t> for rare locations</a:t>
            </a:r>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Dataset contains </a:t>
            </a:r>
            <a:r>
              <a:rPr lang="en-GB" i="1" dirty="0"/>
              <a:t>listing prices</a:t>
            </a:r>
            <a:r>
              <a:rPr lang="en-GB" dirty="0"/>
              <a:t>, not confirmed sale transaction prices — actual sale may differ significantly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Property descriptions </a:t>
            </a:r>
            <a:r>
              <a:rPr lang="en-GB" dirty="0" err="1"/>
              <a:t>droppedthey</a:t>
            </a:r>
            <a:r>
              <a:rPr lang="en-GB" dirty="0"/>
              <a:t> contain high-value signals ("Burj Khalifa view", "private pool") that NLP could extract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 feature importance output from HGB </a:t>
            </a:r>
            <a:r>
              <a:rPr lang="cs-CZ" dirty="0"/>
              <a:t>– </a:t>
            </a:r>
            <a:r>
              <a:rPr lang="en-GB" dirty="0"/>
              <a:t>SHAP values would be needed for individual prediction explanations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Static model: will degrade as the market evolves without periodic retraining</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Geographic bias: sparse data in certain areas may cause systematic undervaluation, disadvantaging sellers in those communities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11</a:t>
            </a:fld>
            <a:endParaRPr lang="en-US"/>
          </a:p>
        </p:txBody>
      </p:sp>
    </p:spTree>
    <p:extLst>
      <p:ext uri="{BB962C8B-B14F-4D97-AF65-F5344CB8AC3E}">
        <p14:creationId xmlns:p14="http://schemas.microsoft.com/office/powerpoint/2010/main" val="2932155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Frame these as insights you'd carry into any future ML project, not just real estate. These are transferable principles </a:t>
            </a:r>
            <a:r>
              <a:rPr lang="cs-CZ" dirty="0"/>
              <a:t>–</a:t>
            </a:r>
            <a:r>
              <a:rPr lang="en-GB" dirty="0"/>
              <a:t> this is what the "lessons learned" section is really about.</a:t>
            </a:r>
            <a:endParaRPr lang="cs-CZ" dirty="0"/>
          </a:p>
          <a:p>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1. Preprocessing is everything</a:t>
            </a:r>
            <a:br>
              <a:rPr lang="en-GB" dirty="0"/>
            </a:br>
            <a:r>
              <a:rPr lang="en-GB" dirty="0"/>
              <a:t>Model performance improved by over 30% through better preprocessing </a:t>
            </a:r>
            <a:r>
              <a:rPr lang="cs-CZ" dirty="0"/>
              <a:t>–</a:t>
            </a:r>
            <a:r>
              <a:rPr lang="en-GB" dirty="0"/>
              <a:t> before any tuning. Clean data beats clever algorithms.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2. Log-transforming the target variable is essential for real estate</a:t>
            </a:r>
            <a:br>
              <a:rPr lang="en-GB" dirty="0"/>
            </a:br>
            <a:r>
              <a:rPr lang="en-GB" dirty="0"/>
              <a:t>Without it, the model disproportionately chased rare luxury outliers and performed poorly on typical properties.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3. Pipeline encapsulation prevents data leakage</a:t>
            </a:r>
            <a:br>
              <a:rPr lang="en-GB" dirty="0"/>
            </a:br>
            <a:r>
              <a:rPr lang="en-GB" dirty="0"/>
              <a:t>Wrapping preprocessing + model in one </a:t>
            </a:r>
            <a:r>
              <a:rPr lang="en-GB" dirty="0" err="1"/>
              <a:t>sklearn</a:t>
            </a:r>
            <a:r>
              <a:rPr lang="en-GB" dirty="0"/>
              <a:t> Pipeline is non-negotiable. Any step fitted outside the pipeline is a potential leakage point.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4. Tune preprocessing alongside model hyperparameters</a:t>
            </a:r>
            <a:br>
              <a:rPr lang="en-GB" dirty="0"/>
            </a:br>
            <a:r>
              <a:rPr lang="en-GB" dirty="0"/>
              <a:t>Treating imputer strategy and </a:t>
            </a:r>
            <a:r>
              <a:rPr lang="en-GB" dirty="0" err="1"/>
              <a:t>TargetEncoder</a:t>
            </a:r>
            <a:r>
              <a:rPr lang="en-GB" dirty="0"/>
              <a:t> smooth as </a:t>
            </a:r>
            <a:r>
              <a:rPr lang="en-GB" dirty="0" err="1"/>
              <a:t>tunable</a:t>
            </a:r>
            <a:r>
              <a:rPr lang="en-GB" dirty="0"/>
              <a:t> parameters yielded better results than treating them as fixed choices.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5. Stratified splitting by price is essential</a:t>
            </a:r>
            <a:br>
              <a:rPr lang="en-GB" dirty="0"/>
            </a:br>
            <a:r>
              <a:rPr lang="en-GB" dirty="0"/>
              <a:t>A random split might accidentally oversample or </a:t>
            </a:r>
            <a:r>
              <a:rPr lang="en-GB" dirty="0" err="1"/>
              <a:t>undersample</a:t>
            </a:r>
            <a:r>
              <a:rPr lang="en-GB" dirty="0"/>
              <a:t> certain price bands, producing misleading evaluation metrics.</a:t>
            </a:r>
          </a:p>
          <a:p>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12</a:t>
            </a:fld>
            <a:endParaRPr lang="en-US"/>
          </a:p>
        </p:txBody>
      </p:sp>
    </p:spTree>
    <p:extLst>
      <p:ext uri="{BB962C8B-B14F-4D97-AF65-F5344CB8AC3E}">
        <p14:creationId xmlns:p14="http://schemas.microsoft.com/office/powerpoint/2010/main" val="36789245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Show that you've thought beyond the notebook </a:t>
            </a:r>
            <a:r>
              <a:rPr lang="cs-CZ" dirty="0"/>
              <a:t>–</a:t>
            </a:r>
            <a:r>
              <a:rPr lang="en-GB" dirty="0"/>
              <a:t> a trained model is only useful if it's deployed properly. The A/B testing recommendation shows business savvy: you're not claiming the model is perfect, you're proposing a measured rollout.</a:t>
            </a:r>
            <a:endParaRPr lang="cs-CZ" dirty="0"/>
          </a:p>
          <a:p>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Integrate as an "Estimated Value" widget on listing pages of platforms like Property Finder or </a:t>
            </a:r>
            <a:r>
              <a:rPr lang="en-GB" dirty="0" err="1"/>
              <a:t>Bayut</a:t>
            </a:r>
            <a:endParaRPr lang="en-GB" dirty="0"/>
          </a:p>
          <a:p>
            <a:endParaRPr lang="cs-CZ" dirty="0"/>
          </a:p>
          <a:p>
            <a:endParaRPr lang="cs-CZ" dirty="0"/>
          </a:p>
          <a:p>
            <a:r>
              <a:rPr lang="en-GB" b="1" dirty="0"/>
              <a:t>Retraining plan:</a:t>
            </a:r>
            <a:endParaRPr lang="en-GB" dirty="0"/>
          </a:p>
          <a:p>
            <a:r>
              <a:rPr lang="en-GB" dirty="0"/>
              <a:t>Retrain at minimum quarterly given UAE market volatility</a:t>
            </a:r>
          </a:p>
          <a:p>
            <a:r>
              <a:rPr lang="en-GB" dirty="0"/>
              <a:t>Monitor live prediction vs. eventual sale price to detect model drift early</a:t>
            </a:r>
          </a:p>
          <a:p>
            <a:r>
              <a:rPr lang="en-GB" dirty="0"/>
              <a:t>Automate data ingestion from UAE listing platforms to maintain a fresh training dataset</a:t>
            </a:r>
          </a:p>
          <a:p>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13</a:t>
            </a:fld>
            <a:endParaRPr lang="en-US"/>
          </a:p>
        </p:txBody>
      </p:sp>
    </p:spTree>
    <p:extLst>
      <p:ext uri="{BB962C8B-B14F-4D97-AF65-F5344CB8AC3E}">
        <p14:creationId xmlns:p14="http://schemas.microsoft.com/office/powerpoint/2010/main" val="3570106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shows the project has legs beyond a university submission. Emphasize that the pipeline and methodology are the real deliverable </a:t>
            </a:r>
            <a:r>
              <a:rPr lang="cs-CZ" dirty="0"/>
              <a:t>–</a:t>
            </a:r>
            <a:r>
              <a:rPr lang="en-GB" dirty="0"/>
              <a:t> the model can be retrained on any structured real estate dataset with minimal modification.</a:t>
            </a:r>
            <a:endParaRPr lang="cs-CZ" dirty="0"/>
          </a:p>
          <a:p>
            <a:endParaRPr lang="cs-CZ" dirty="0"/>
          </a:p>
          <a:p>
            <a:r>
              <a:rPr lang="en-GB" b="1" dirty="0"/>
              <a:t>Transaction price data:</a:t>
            </a:r>
            <a:r>
              <a:rPr lang="en-GB" dirty="0"/>
              <a:t> Obtain DLD records for actual sale prices rather than listing prices</a:t>
            </a:r>
          </a:p>
          <a:p>
            <a:r>
              <a:rPr lang="en-GB" b="1" dirty="0"/>
              <a:t>NLP on descriptions:</a:t>
            </a:r>
            <a:r>
              <a:rPr lang="en-GB" dirty="0"/>
              <a:t> Extract keywords like "sea view", "private pool", "Burj Khalifa view" using embedding models</a:t>
            </a:r>
          </a:p>
          <a:p>
            <a:r>
              <a:rPr lang="en-GB" b="1" dirty="0"/>
              <a:t>Geographic distance features:</a:t>
            </a:r>
            <a:r>
              <a:rPr lang="en-GB" dirty="0"/>
              <a:t> Distance to Dubai Mall, DIFC, Palm Jumeirah as numeric features</a:t>
            </a:r>
          </a:p>
          <a:p>
            <a:r>
              <a:rPr lang="en-GB" b="1" dirty="0"/>
              <a:t>SHAP explainability:</a:t>
            </a:r>
            <a:r>
              <a:rPr lang="en-GB" dirty="0"/>
              <a:t> Per-prediction breakdowns ("Location adds AED 200k; unfurnished reduces by AED 80k")</a:t>
            </a:r>
          </a:p>
          <a:p>
            <a:r>
              <a:rPr lang="en-GB" b="1" dirty="0"/>
              <a:t>Automatic retraining pipeline:</a:t>
            </a:r>
            <a:r>
              <a:rPr lang="en-GB" dirty="0"/>
              <a:t> CI/CD for model updates triggered by data drift detection</a:t>
            </a:r>
          </a:p>
          <a:p>
            <a:r>
              <a:rPr lang="en-GB" b="1" dirty="0"/>
              <a:t>Broader applications:</a:t>
            </a:r>
            <a:endParaRPr lang="en-GB" dirty="0"/>
          </a:p>
          <a:p>
            <a:r>
              <a:rPr lang="en-GB" dirty="0"/>
              <a:t>GCC expansion: Saudi Arabia, Qatar, Kuwait markets share similar data structures </a:t>
            </a:r>
            <a:r>
              <a:rPr lang="cs-CZ" dirty="0"/>
              <a:t>–</a:t>
            </a:r>
            <a:r>
              <a:rPr lang="en-GB" dirty="0"/>
              <a:t> minimal retraining needed</a:t>
            </a:r>
          </a:p>
          <a:p>
            <a:r>
              <a:rPr lang="en-GB" dirty="0"/>
              <a:t>Commercial real estate: same gradient boosting approach adapts to office and retail valuation</a:t>
            </a:r>
          </a:p>
          <a:p>
            <a:r>
              <a:rPr lang="en-GB" dirty="0"/>
              <a:t>Rental price prediction: same pipeline, different target variable</a:t>
            </a:r>
          </a:p>
          <a:p>
            <a:pPr marL="0" marR="0" lvl="0" indent="0" algn="l" defTabSz="914400" rtl="0" eaLnBrk="1" fontAlgn="auto" latinLnBrk="0" hangingPunct="1">
              <a:lnSpc>
                <a:spcPct val="100000"/>
              </a:lnSpc>
              <a:spcBef>
                <a:spcPts val="0"/>
              </a:spcBef>
              <a:spcAft>
                <a:spcPts val="0"/>
              </a:spcAft>
              <a:buClrTx/>
              <a:buSzTx/>
              <a:buFontTx/>
              <a:buNone/>
              <a:tabLst/>
              <a:defRPr/>
            </a:pPr>
            <a:r>
              <a:rPr lang="cs-CZ" b="1" dirty="0" err="1"/>
              <a:t>GridSearchCV</a:t>
            </a:r>
            <a:r>
              <a:rPr lang="cs-CZ" b="1" dirty="0"/>
              <a:t> </a:t>
            </a:r>
            <a:r>
              <a:rPr lang="cs-CZ" b="1" dirty="0" err="1"/>
              <a:t>around</a:t>
            </a:r>
            <a:r>
              <a:rPr lang="cs-CZ" b="1" dirty="0"/>
              <a:t> </a:t>
            </a:r>
            <a:r>
              <a:rPr lang="cs-CZ" b="1" dirty="0" err="1"/>
              <a:t>found</a:t>
            </a:r>
            <a:r>
              <a:rPr lang="cs-CZ" b="1" dirty="0"/>
              <a:t> </a:t>
            </a:r>
            <a:r>
              <a:rPr lang="cs-CZ" b="1" dirty="0" err="1"/>
              <a:t>RandomSearchCV</a:t>
            </a:r>
            <a:r>
              <a:rPr lang="cs-CZ" b="1" dirty="0"/>
              <a:t> </a:t>
            </a:r>
            <a:r>
              <a:rPr lang="cs-CZ" b="1" dirty="0" err="1"/>
              <a:t>parameters</a:t>
            </a:r>
            <a:endParaRPr lang="cs-CZ" b="1" dirty="0"/>
          </a:p>
          <a:p>
            <a:r>
              <a:rPr lang="cs-CZ" dirty="0" err="1"/>
              <a:t>This</a:t>
            </a:r>
            <a:r>
              <a:rPr lang="cs-CZ" dirty="0"/>
              <a:t> </a:t>
            </a:r>
            <a:r>
              <a:rPr lang="cs-CZ" dirty="0" err="1"/>
              <a:t>ensures</a:t>
            </a:r>
            <a:r>
              <a:rPr lang="cs-CZ" dirty="0"/>
              <a:t> </a:t>
            </a:r>
            <a:r>
              <a:rPr lang="cs-CZ" dirty="0" err="1"/>
              <a:t>we</a:t>
            </a:r>
            <a:r>
              <a:rPr lang="cs-CZ" dirty="0"/>
              <a:t> </a:t>
            </a:r>
            <a:r>
              <a:rPr lang="cs-CZ" dirty="0" err="1"/>
              <a:t>actually</a:t>
            </a:r>
            <a:r>
              <a:rPr lang="cs-CZ" dirty="0"/>
              <a:t> </a:t>
            </a:r>
            <a:r>
              <a:rPr lang="cs-CZ" dirty="0" err="1"/>
              <a:t>find</a:t>
            </a:r>
            <a:r>
              <a:rPr lang="cs-CZ" dirty="0"/>
              <a:t> </a:t>
            </a:r>
            <a:r>
              <a:rPr lang="cs-CZ" dirty="0" err="1"/>
              <a:t>the</a:t>
            </a:r>
            <a:r>
              <a:rPr lang="cs-CZ" dirty="0"/>
              <a:t> </a:t>
            </a:r>
            <a:r>
              <a:rPr lang="cs-CZ" dirty="0" err="1"/>
              <a:t>best</a:t>
            </a:r>
            <a:r>
              <a:rPr lang="cs-CZ" dirty="0"/>
              <a:t> </a:t>
            </a:r>
            <a:r>
              <a:rPr lang="cs-CZ" dirty="0" err="1"/>
              <a:t>value</a:t>
            </a:r>
            <a:r>
              <a:rPr lang="cs-CZ" dirty="0"/>
              <a:t>. </a:t>
            </a:r>
            <a:r>
              <a:rPr lang="cs-CZ" dirty="0" err="1"/>
              <a:t>Probalby</a:t>
            </a:r>
            <a:r>
              <a:rPr lang="cs-CZ" dirty="0"/>
              <a:t> not </a:t>
            </a:r>
            <a:r>
              <a:rPr lang="cs-CZ" dirty="0" err="1"/>
              <a:t>worth</a:t>
            </a:r>
            <a:r>
              <a:rPr lang="cs-CZ" dirty="0"/>
              <a:t> </a:t>
            </a:r>
            <a:r>
              <a:rPr lang="cs-CZ" dirty="0" err="1"/>
              <a:t>it</a:t>
            </a:r>
            <a:r>
              <a:rPr lang="cs-CZ" dirty="0"/>
              <a:t>.</a:t>
            </a:r>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14</a:t>
            </a:fld>
            <a:endParaRPr lang="en-US"/>
          </a:p>
        </p:txBody>
      </p:sp>
    </p:spTree>
    <p:extLst>
      <p:ext uri="{BB962C8B-B14F-4D97-AF65-F5344CB8AC3E}">
        <p14:creationId xmlns:p14="http://schemas.microsoft.com/office/powerpoint/2010/main" val="35474232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What we built:</a:t>
            </a:r>
            <a:endParaRPr lang="en-GB" dirty="0"/>
          </a:p>
          <a:p>
            <a:r>
              <a:rPr lang="en-GB" dirty="0"/>
              <a:t>A supervised ML pipeline trained on 5,058 UAE property listings</a:t>
            </a:r>
          </a:p>
          <a:p>
            <a:r>
              <a:rPr lang="en-GB" dirty="0"/>
              <a:t>4 models compared under identical conditions; </a:t>
            </a:r>
            <a:r>
              <a:rPr lang="en-GB" dirty="0" err="1"/>
              <a:t>HistGradientBoosting</a:t>
            </a:r>
            <a:r>
              <a:rPr lang="en-GB" dirty="0"/>
              <a:t> selected as best</a:t>
            </a:r>
          </a:p>
          <a:p>
            <a:r>
              <a:rPr lang="en-GB" dirty="0"/>
              <a:t>Final test R² of 0.7836 — explains 78% of price variance on unseen data</a:t>
            </a:r>
          </a:p>
          <a:p>
            <a:r>
              <a:rPr lang="en-GB" dirty="0"/>
              <a:t>Interactive prediction interface in </a:t>
            </a:r>
            <a:r>
              <a:rPr lang="en-GB" dirty="0" err="1"/>
              <a:t>Prediction_Model.ipynb</a:t>
            </a:r>
            <a:r>
              <a:rPr lang="en-GB" dirty="0"/>
              <a:t>: enter property attributes, get an AED estimate in seconds</a:t>
            </a:r>
          </a:p>
          <a:p>
            <a:r>
              <a:rPr lang="en-GB" b="1" dirty="0"/>
              <a:t>Key takeaways:</a:t>
            </a:r>
            <a:endParaRPr lang="en-GB" dirty="0"/>
          </a:p>
          <a:p>
            <a:r>
              <a:rPr lang="en-GB" dirty="0"/>
              <a:t>Preprocessing quality matters more than model choice</a:t>
            </a:r>
          </a:p>
          <a:p>
            <a:r>
              <a:rPr lang="en-GB" dirty="0"/>
              <a:t>The system delivers meaningful business value: instant, scalable, consistent valuations</a:t>
            </a:r>
          </a:p>
          <a:p>
            <a:r>
              <a:rPr lang="en-GB" dirty="0"/>
              <a:t>Limitations are known and addressable with richer data and continued development</a:t>
            </a:r>
          </a:p>
          <a:p>
            <a:r>
              <a:rPr lang="en-GB" b="1" dirty="0"/>
              <a:t>Thank you. Questions?</a:t>
            </a:r>
            <a:endParaRPr lang="en-GB" dirty="0"/>
          </a:p>
          <a:p>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15</a:t>
            </a:fld>
            <a:endParaRPr lang="en-US"/>
          </a:p>
        </p:txBody>
      </p:sp>
    </p:spTree>
    <p:extLst>
      <p:ext uri="{BB962C8B-B14F-4D97-AF65-F5344CB8AC3E}">
        <p14:creationId xmlns:p14="http://schemas.microsoft.com/office/powerpoint/2010/main" val="2317471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4A566-1171-6050-48EA-38D3BE3B32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BBF6796-ED20-8720-90F5-72C72BEAC8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0C64EEF-7279-0877-C426-605C267A9978}"/>
              </a:ext>
            </a:extLst>
          </p:cNvPr>
          <p:cNvSpPr>
            <a:spLocks noGrp="1"/>
          </p:cNvSpPr>
          <p:nvPr>
            <p:ph type="dt" sz="half" idx="10"/>
          </p:nvPr>
        </p:nvSpPr>
        <p:spPr/>
        <p:txBody>
          <a:bodyPr/>
          <a:lstStyle/>
          <a:p>
            <a:fld id="{CDB8A8C9-57BA-436B-A00E-94B4570FD1D9}" type="datetimeFigureOut">
              <a:rPr lang="en-US" smtClean="0"/>
              <a:t>6/21/2026</a:t>
            </a:fld>
            <a:endParaRPr lang="en-US"/>
          </a:p>
        </p:txBody>
      </p:sp>
      <p:sp>
        <p:nvSpPr>
          <p:cNvPr id="5" name="Footer Placeholder 4">
            <a:extLst>
              <a:ext uri="{FF2B5EF4-FFF2-40B4-BE49-F238E27FC236}">
                <a16:creationId xmlns:a16="http://schemas.microsoft.com/office/drawing/2014/main" id="{1137E419-B031-55F0-F6F1-B89D062FCE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A1D6D3-2F34-60B9-95B4-1405A966CEDC}"/>
              </a:ext>
            </a:extLst>
          </p:cNvPr>
          <p:cNvSpPr>
            <a:spLocks noGrp="1"/>
          </p:cNvSpPr>
          <p:nvPr>
            <p:ph type="sldNum" sz="quarter" idx="12"/>
          </p:nvPr>
        </p:nvSpPr>
        <p:spPr/>
        <p:txBody>
          <a:bodyPr/>
          <a:lstStyle/>
          <a:p>
            <a:fld id="{7481CF88-3B48-4E7B-A977-2081F954801A}" type="slidenum">
              <a:rPr lang="en-US" smtClean="0"/>
              <a:t>‹#›</a:t>
            </a:fld>
            <a:endParaRPr lang="en-US"/>
          </a:p>
        </p:txBody>
      </p:sp>
    </p:spTree>
    <p:extLst>
      <p:ext uri="{BB962C8B-B14F-4D97-AF65-F5344CB8AC3E}">
        <p14:creationId xmlns:p14="http://schemas.microsoft.com/office/powerpoint/2010/main" val="1211068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6C26E-B196-118C-6732-5E09FE9C10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315F70-AE42-2508-77A8-76C43A8A39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5C868B-B1A0-CBEF-10AF-B8740F7FA406}"/>
              </a:ext>
            </a:extLst>
          </p:cNvPr>
          <p:cNvSpPr>
            <a:spLocks noGrp="1"/>
          </p:cNvSpPr>
          <p:nvPr>
            <p:ph type="dt" sz="half" idx="10"/>
          </p:nvPr>
        </p:nvSpPr>
        <p:spPr/>
        <p:txBody>
          <a:bodyPr/>
          <a:lstStyle/>
          <a:p>
            <a:fld id="{CDB8A8C9-57BA-436B-A00E-94B4570FD1D9}" type="datetimeFigureOut">
              <a:rPr lang="en-US" smtClean="0"/>
              <a:t>6/21/2026</a:t>
            </a:fld>
            <a:endParaRPr lang="en-US"/>
          </a:p>
        </p:txBody>
      </p:sp>
      <p:sp>
        <p:nvSpPr>
          <p:cNvPr id="5" name="Footer Placeholder 4">
            <a:extLst>
              <a:ext uri="{FF2B5EF4-FFF2-40B4-BE49-F238E27FC236}">
                <a16:creationId xmlns:a16="http://schemas.microsoft.com/office/drawing/2014/main" id="{A3E139AB-52DF-C8AE-6E7B-A7F8F7648B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71F1F3-295A-0EB9-14D0-AC4B9E44D5C0}"/>
              </a:ext>
            </a:extLst>
          </p:cNvPr>
          <p:cNvSpPr>
            <a:spLocks noGrp="1"/>
          </p:cNvSpPr>
          <p:nvPr>
            <p:ph type="sldNum" sz="quarter" idx="12"/>
          </p:nvPr>
        </p:nvSpPr>
        <p:spPr/>
        <p:txBody>
          <a:bodyPr/>
          <a:lstStyle/>
          <a:p>
            <a:fld id="{7481CF88-3B48-4E7B-A977-2081F954801A}" type="slidenum">
              <a:rPr lang="en-US" smtClean="0"/>
              <a:t>‹#›</a:t>
            </a:fld>
            <a:endParaRPr lang="en-US"/>
          </a:p>
        </p:txBody>
      </p:sp>
    </p:spTree>
    <p:extLst>
      <p:ext uri="{BB962C8B-B14F-4D97-AF65-F5344CB8AC3E}">
        <p14:creationId xmlns:p14="http://schemas.microsoft.com/office/powerpoint/2010/main" val="1273414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99D0E-FF40-B268-73F4-8AED74483F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3B7BBC-DAA8-7D1D-D9EF-7FA440293FE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830E21-D196-A6A2-B38F-31BE407A246C}"/>
              </a:ext>
            </a:extLst>
          </p:cNvPr>
          <p:cNvSpPr>
            <a:spLocks noGrp="1"/>
          </p:cNvSpPr>
          <p:nvPr>
            <p:ph type="dt" sz="half" idx="10"/>
          </p:nvPr>
        </p:nvSpPr>
        <p:spPr/>
        <p:txBody>
          <a:bodyPr/>
          <a:lstStyle/>
          <a:p>
            <a:fld id="{CDB8A8C9-57BA-436B-A00E-94B4570FD1D9}" type="datetimeFigureOut">
              <a:rPr lang="en-US" smtClean="0"/>
              <a:t>6/21/2026</a:t>
            </a:fld>
            <a:endParaRPr lang="en-US"/>
          </a:p>
        </p:txBody>
      </p:sp>
      <p:sp>
        <p:nvSpPr>
          <p:cNvPr id="5" name="Footer Placeholder 4">
            <a:extLst>
              <a:ext uri="{FF2B5EF4-FFF2-40B4-BE49-F238E27FC236}">
                <a16:creationId xmlns:a16="http://schemas.microsoft.com/office/drawing/2014/main" id="{0A211CA7-A3EB-5A38-6732-CC091EEA89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25930C-3C45-F3AF-C290-2489C6DA7F37}"/>
              </a:ext>
            </a:extLst>
          </p:cNvPr>
          <p:cNvSpPr>
            <a:spLocks noGrp="1"/>
          </p:cNvSpPr>
          <p:nvPr>
            <p:ph type="sldNum" sz="quarter" idx="12"/>
          </p:nvPr>
        </p:nvSpPr>
        <p:spPr/>
        <p:txBody>
          <a:bodyPr/>
          <a:lstStyle/>
          <a:p>
            <a:fld id="{7481CF88-3B48-4E7B-A977-2081F954801A}" type="slidenum">
              <a:rPr lang="en-US" smtClean="0"/>
              <a:t>‹#›</a:t>
            </a:fld>
            <a:endParaRPr lang="en-US"/>
          </a:p>
        </p:txBody>
      </p:sp>
    </p:spTree>
    <p:extLst>
      <p:ext uri="{BB962C8B-B14F-4D97-AF65-F5344CB8AC3E}">
        <p14:creationId xmlns:p14="http://schemas.microsoft.com/office/powerpoint/2010/main" val="1945315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60340-92A3-0121-A446-C2A8B17B46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727967-9E1A-3C64-890E-FC790AC3CE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5F72B4-5C47-0A54-8579-C0236E8EBB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B556A79-8F3E-28AF-28A0-7E92F5FBABEA}"/>
              </a:ext>
            </a:extLst>
          </p:cNvPr>
          <p:cNvSpPr>
            <a:spLocks noGrp="1"/>
          </p:cNvSpPr>
          <p:nvPr>
            <p:ph type="dt" sz="half" idx="10"/>
          </p:nvPr>
        </p:nvSpPr>
        <p:spPr/>
        <p:txBody>
          <a:bodyPr/>
          <a:lstStyle/>
          <a:p>
            <a:fld id="{CDB8A8C9-57BA-436B-A00E-94B4570FD1D9}" type="datetimeFigureOut">
              <a:rPr lang="en-US" smtClean="0"/>
              <a:t>6/21/2026</a:t>
            </a:fld>
            <a:endParaRPr lang="en-US"/>
          </a:p>
        </p:txBody>
      </p:sp>
      <p:sp>
        <p:nvSpPr>
          <p:cNvPr id="6" name="Footer Placeholder 5">
            <a:extLst>
              <a:ext uri="{FF2B5EF4-FFF2-40B4-BE49-F238E27FC236}">
                <a16:creationId xmlns:a16="http://schemas.microsoft.com/office/drawing/2014/main" id="{71C948CF-2F22-5313-37E3-A218A1449D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E0F869-AC20-605B-4103-35A7C1946AF7}"/>
              </a:ext>
            </a:extLst>
          </p:cNvPr>
          <p:cNvSpPr>
            <a:spLocks noGrp="1"/>
          </p:cNvSpPr>
          <p:nvPr>
            <p:ph type="sldNum" sz="quarter" idx="12"/>
          </p:nvPr>
        </p:nvSpPr>
        <p:spPr/>
        <p:txBody>
          <a:bodyPr/>
          <a:lstStyle/>
          <a:p>
            <a:fld id="{7481CF88-3B48-4E7B-A977-2081F954801A}" type="slidenum">
              <a:rPr lang="en-US" smtClean="0"/>
              <a:t>‹#›</a:t>
            </a:fld>
            <a:endParaRPr lang="en-US"/>
          </a:p>
        </p:txBody>
      </p:sp>
    </p:spTree>
    <p:extLst>
      <p:ext uri="{BB962C8B-B14F-4D97-AF65-F5344CB8AC3E}">
        <p14:creationId xmlns:p14="http://schemas.microsoft.com/office/powerpoint/2010/main" val="3804294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C69D1-9FA8-90F7-15D7-345EAF3C5E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FC2750-B2E2-99CB-3630-550B6345F1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13A3EFB-CD60-F21F-FD8A-ACD316C241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2F9E61-47C0-C671-A712-3B590119AF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C8A212-D1B1-428C-1A61-7B0FB4C7DA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491906-5FDA-222C-8161-15DB0962421A}"/>
              </a:ext>
            </a:extLst>
          </p:cNvPr>
          <p:cNvSpPr>
            <a:spLocks noGrp="1"/>
          </p:cNvSpPr>
          <p:nvPr>
            <p:ph type="dt" sz="half" idx="10"/>
          </p:nvPr>
        </p:nvSpPr>
        <p:spPr/>
        <p:txBody>
          <a:bodyPr/>
          <a:lstStyle/>
          <a:p>
            <a:fld id="{CDB8A8C9-57BA-436B-A00E-94B4570FD1D9}" type="datetimeFigureOut">
              <a:rPr lang="en-US" smtClean="0"/>
              <a:t>6/21/2026</a:t>
            </a:fld>
            <a:endParaRPr lang="en-US"/>
          </a:p>
        </p:txBody>
      </p:sp>
      <p:sp>
        <p:nvSpPr>
          <p:cNvPr id="8" name="Footer Placeholder 7">
            <a:extLst>
              <a:ext uri="{FF2B5EF4-FFF2-40B4-BE49-F238E27FC236}">
                <a16:creationId xmlns:a16="http://schemas.microsoft.com/office/drawing/2014/main" id="{A2E44CBB-C2D2-147B-CB43-361B793A7B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FDA935-7EAE-C5CF-9C55-857EF5753F42}"/>
              </a:ext>
            </a:extLst>
          </p:cNvPr>
          <p:cNvSpPr>
            <a:spLocks noGrp="1"/>
          </p:cNvSpPr>
          <p:nvPr>
            <p:ph type="sldNum" sz="quarter" idx="12"/>
          </p:nvPr>
        </p:nvSpPr>
        <p:spPr/>
        <p:txBody>
          <a:bodyPr/>
          <a:lstStyle/>
          <a:p>
            <a:fld id="{7481CF88-3B48-4E7B-A977-2081F954801A}" type="slidenum">
              <a:rPr lang="en-US" smtClean="0"/>
              <a:t>‹#›</a:t>
            </a:fld>
            <a:endParaRPr lang="en-US"/>
          </a:p>
        </p:txBody>
      </p:sp>
    </p:spTree>
    <p:extLst>
      <p:ext uri="{BB962C8B-B14F-4D97-AF65-F5344CB8AC3E}">
        <p14:creationId xmlns:p14="http://schemas.microsoft.com/office/powerpoint/2010/main" val="192892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45859-7DAF-EC29-E07C-F72886AC5F4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AB21C6B-CC5D-EA20-6CC1-03A9CF9E3D29}"/>
              </a:ext>
            </a:extLst>
          </p:cNvPr>
          <p:cNvSpPr>
            <a:spLocks noGrp="1"/>
          </p:cNvSpPr>
          <p:nvPr>
            <p:ph type="dt" sz="half" idx="10"/>
          </p:nvPr>
        </p:nvSpPr>
        <p:spPr/>
        <p:txBody>
          <a:bodyPr/>
          <a:lstStyle/>
          <a:p>
            <a:fld id="{CDB8A8C9-57BA-436B-A00E-94B4570FD1D9}" type="datetimeFigureOut">
              <a:rPr lang="en-US" smtClean="0"/>
              <a:t>6/21/2026</a:t>
            </a:fld>
            <a:endParaRPr lang="en-US"/>
          </a:p>
        </p:txBody>
      </p:sp>
      <p:sp>
        <p:nvSpPr>
          <p:cNvPr id="4" name="Footer Placeholder 3">
            <a:extLst>
              <a:ext uri="{FF2B5EF4-FFF2-40B4-BE49-F238E27FC236}">
                <a16:creationId xmlns:a16="http://schemas.microsoft.com/office/drawing/2014/main" id="{D307E773-C3B2-2D49-6318-B3A57796A5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8B50B10-F36A-0E21-9200-6C00EF2ABBFF}"/>
              </a:ext>
            </a:extLst>
          </p:cNvPr>
          <p:cNvSpPr>
            <a:spLocks noGrp="1"/>
          </p:cNvSpPr>
          <p:nvPr>
            <p:ph type="sldNum" sz="quarter" idx="12"/>
          </p:nvPr>
        </p:nvSpPr>
        <p:spPr/>
        <p:txBody>
          <a:bodyPr/>
          <a:lstStyle/>
          <a:p>
            <a:fld id="{7481CF88-3B48-4E7B-A977-2081F954801A}" type="slidenum">
              <a:rPr lang="en-US" smtClean="0"/>
              <a:t>‹#›</a:t>
            </a:fld>
            <a:endParaRPr lang="en-US"/>
          </a:p>
        </p:txBody>
      </p:sp>
    </p:spTree>
    <p:extLst>
      <p:ext uri="{BB962C8B-B14F-4D97-AF65-F5344CB8AC3E}">
        <p14:creationId xmlns:p14="http://schemas.microsoft.com/office/powerpoint/2010/main" val="2180912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42227F-8FFA-4CA2-1F8F-F68DCF51FDBB}"/>
              </a:ext>
            </a:extLst>
          </p:cNvPr>
          <p:cNvSpPr>
            <a:spLocks noGrp="1"/>
          </p:cNvSpPr>
          <p:nvPr>
            <p:ph type="dt" sz="half" idx="10"/>
          </p:nvPr>
        </p:nvSpPr>
        <p:spPr/>
        <p:txBody>
          <a:bodyPr/>
          <a:lstStyle/>
          <a:p>
            <a:fld id="{CDB8A8C9-57BA-436B-A00E-94B4570FD1D9}" type="datetimeFigureOut">
              <a:rPr lang="en-US" smtClean="0"/>
              <a:t>6/21/2026</a:t>
            </a:fld>
            <a:endParaRPr lang="en-US"/>
          </a:p>
        </p:txBody>
      </p:sp>
      <p:sp>
        <p:nvSpPr>
          <p:cNvPr id="3" name="Footer Placeholder 2">
            <a:extLst>
              <a:ext uri="{FF2B5EF4-FFF2-40B4-BE49-F238E27FC236}">
                <a16:creationId xmlns:a16="http://schemas.microsoft.com/office/drawing/2014/main" id="{99F7C267-3DD2-0A72-73CE-418D6E7B76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51CA63-44F0-477C-7D61-0C2227D97443}"/>
              </a:ext>
            </a:extLst>
          </p:cNvPr>
          <p:cNvSpPr>
            <a:spLocks noGrp="1"/>
          </p:cNvSpPr>
          <p:nvPr>
            <p:ph type="sldNum" sz="quarter" idx="12"/>
          </p:nvPr>
        </p:nvSpPr>
        <p:spPr/>
        <p:txBody>
          <a:bodyPr/>
          <a:lstStyle/>
          <a:p>
            <a:fld id="{7481CF88-3B48-4E7B-A977-2081F954801A}" type="slidenum">
              <a:rPr lang="en-US" smtClean="0"/>
              <a:t>‹#›</a:t>
            </a:fld>
            <a:endParaRPr lang="en-US"/>
          </a:p>
        </p:txBody>
      </p:sp>
    </p:spTree>
    <p:extLst>
      <p:ext uri="{BB962C8B-B14F-4D97-AF65-F5344CB8AC3E}">
        <p14:creationId xmlns:p14="http://schemas.microsoft.com/office/powerpoint/2010/main" val="2447118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0F844-E6AD-B2A1-6727-5341B2AA1D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8930EFA-113B-C586-9E9E-A06B7354C9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9508DF-6825-CC94-DBC4-D1636D30B8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406362-4978-E077-CCA3-A9B71B871484}"/>
              </a:ext>
            </a:extLst>
          </p:cNvPr>
          <p:cNvSpPr>
            <a:spLocks noGrp="1"/>
          </p:cNvSpPr>
          <p:nvPr>
            <p:ph type="dt" sz="half" idx="10"/>
          </p:nvPr>
        </p:nvSpPr>
        <p:spPr/>
        <p:txBody>
          <a:bodyPr/>
          <a:lstStyle/>
          <a:p>
            <a:fld id="{CDB8A8C9-57BA-436B-A00E-94B4570FD1D9}" type="datetimeFigureOut">
              <a:rPr lang="en-US" smtClean="0"/>
              <a:t>6/21/2026</a:t>
            </a:fld>
            <a:endParaRPr lang="en-US"/>
          </a:p>
        </p:txBody>
      </p:sp>
      <p:sp>
        <p:nvSpPr>
          <p:cNvPr id="6" name="Footer Placeholder 5">
            <a:extLst>
              <a:ext uri="{FF2B5EF4-FFF2-40B4-BE49-F238E27FC236}">
                <a16:creationId xmlns:a16="http://schemas.microsoft.com/office/drawing/2014/main" id="{1ABB2DCD-D090-8DBE-A183-06EB6C5EC0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795698-5ED4-C9F4-AE02-9699D52DB126}"/>
              </a:ext>
            </a:extLst>
          </p:cNvPr>
          <p:cNvSpPr>
            <a:spLocks noGrp="1"/>
          </p:cNvSpPr>
          <p:nvPr>
            <p:ph type="sldNum" sz="quarter" idx="12"/>
          </p:nvPr>
        </p:nvSpPr>
        <p:spPr/>
        <p:txBody>
          <a:bodyPr/>
          <a:lstStyle/>
          <a:p>
            <a:fld id="{7481CF88-3B48-4E7B-A977-2081F954801A}" type="slidenum">
              <a:rPr lang="en-US" smtClean="0"/>
              <a:t>‹#›</a:t>
            </a:fld>
            <a:endParaRPr lang="en-US"/>
          </a:p>
        </p:txBody>
      </p:sp>
    </p:spTree>
    <p:extLst>
      <p:ext uri="{BB962C8B-B14F-4D97-AF65-F5344CB8AC3E}">
        <p14:creationId xmlns:p14="http://schemas.microsoft.com/office/powerpoint/2010/main" val="3278752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684E1-C8B8-BA05-924E-FECF0EDA33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D653FE-3CBD-9A3F-A6C4-1C08E67156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D9FED9B-AD3B-32A9-055A-C4B20263C7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658D91-A65F-8463-86BA-7A18B4F9256E}"/>
              </a:ext>
            </a:extLst>
          </p:cNvPr>
          <p:cNvSpPr>
            <a:spLocks noGrp="1"/>
          </p:cNvSpPr>
          <p:nvPr>
            <p:ph type="dt" sz="half" idx="10"/>
          </p:nvPr>
        </p:nvSpPr>
        <p:spPr/>
        <p:txBody>
          <a:bodyPr/>
          <a:lstStyle/>
          <a:p>
            <a:fld id="{CDB8A8C9-57BA-436B-A00E-94B4570FD1D9}" type="datetimeFigureOut">
              <a:rPr lang="en-US" smtClean="0"/>
              <a:t>6/21/2026</a:t>
            </a:fld>
            <a:endParaRPr lang="en-US"/>
          </a:p>
        </p:txBody>
      </p:sp>
      <p:sp>
        <p:nvSpPr>
          <p:cNvPr id="6" name="Footer Placeholder 5">
            <a:extLst>
              <a:ext uri="{FF2B5EF4-FFF2-40B4-BE49-F238E27FC236}">
                <a16:creationId xmlns:a16="http://schemas.microsoft.com/office/drawing/2014/main" id="{411201CE-B45D-08D8-5D61-F9213F140C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660A3A-F877-C7A4-DAD1-6EC792789DFA}"/>
              </a:ext>
            </a:extLst>
          </p:cNvPr>
          <p:cNvSpPr>
            <a:spLocks noGrp="1"/>
          </p:cNvSpPr>
          <p:nvPr>
            <p:ph type="sldNum" sz="quarter" idx="12"/>
          </p:nvPr>
        </p:nvSpPr>
        <p:spPr/>
        <p:txBody>
          <a:bodyPr/>
          <a:lstStyle/>
          <a:p>
            <a:fld id="{7481CF88-3B48-4E7B-A977-2081F954801A}" type="slidenum">
              <a:rPr lang="en-US" smtClean="0"/>
              <a:t>‹#›</a:t>
            </a:fld>
            <a:endParaRPr lang="en-US"/>
          </a:p>
        </p:txBody>
      </p:sp>
    </p:spTree>
    <p:extLst>
      <p:ext uri="{BB962C8B-B14F-4D97-AF65-F5344CB8AC3E}">
        <p14:creationId xmlns:p14="http://schemas.microsoft.com/office/powerpoint/2010/main" val="925004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DE756-6624-F558-48A0-FE840B7A97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4172691-DE5C-EC65-0471-4703FAC04F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29943E-26FC-3962-CE8C-DE75E62FD661}"/>
              </a:ext>
            </a:extLst>
          </p:cNvPr>
          <p:cNvSpPr>
            <a:spLocks noGrp="1"/>
          </p:cNvSpPr>
          <p:nvPr>
            <p:ph type="dt" sz="half" idx="10"/>
          </p:nvPr>
        </p:nvSpPr>
        <p:spPr/>
        <p:txBody>
          <a:bodyPr/>
          <a:lstStyle/>
          <a:p>
            <a:fld id="{CDB8A8C9-57BA-436B-A00E-94B4570FD1D9}" type="datetimeFigureOut">
              <a:rPr lang="en-US" smtClean="0"/>
              <a:t>6/21/2026</a:t>
            </a:fld>
            <a:endParaRPr lang="en-US"/>
          </a:p>
        </p:txBody>
      </p:sp>
      <p:sp>
        <p:nvSpPr>
          <p:cNvPr id="5" name="Footer Placeholder 4">
            <a:extLst>
              <a:ext uri="{FF2B5EF4-FFF2-40B4-BE49-F238E27FC236}">
                <a16:creationId xmlns:a16="http://schemas.microsoft.com/office/drawing/2014/main" id="{714BEF9E-9053-3E47-75D8-095997BACE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536A01-4DFB-28AB-1DED-8E2B7F9DCF21}"/>
              </a:ext>
            </a:extLst>
          </p:cNvPr>
          <p:cNvSpPr>
            <a:spLocks noGrp="1"/>
          </p:cNvSpPr>
          <p:nvPr>
            <p:ph type="sldNum" sz="quarter" idx="12"/>
          </p:nvPr>
        </p:nvSpPr>
        <p:spPr/>
        <p:txBody>
          <a:bodyPr/>
          <a:lstStyle/>
          <a:p>
            <a:fld id="{7481CF88-3B48-4E7B-A977-2081F954801A}" type="slidenum">
              <a:rPr lang="en-US" smtClean="0"/>
              <a:t>‹#›</a:t>
            </a:fld>
            <a:endParaRPr lang="en-US"/>
          </a:p>
        </p:txBody>
      </p:sp>
    </p:spTree>
    <p:extLst>
      <p:ext uri="{BB962C8B-B14F-4D97-AF65-F5344CB8AC3E}">
        <p14:creationId xmlns:p14="http://schemas.microsoft.com/office/powerpoint/2010/main" val="1327504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2C96E6-D369-10D5-124A-83ABC0F4C5B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332F372-E3F7-AC79-2718-7D5C745CA9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567648-2562-74BC-027D-3A2E7B67DE69}"/>
              </a:ext>
            </a:extLst>
          </p:cNvPr>
          <p:cNvSpPr>
            <a:spLocks noGrp="1"/>
          </p:cNvSpPr>
          <p:nvPr>
            <p:ph type="dt" sz="half" idx="10"/>
          </p:nvPr>
        </p:nvSpPr>
        <p:spPr/>
        <p:txBody>
          <a:bodyPr/>
          <a:lstStyle/>
          <a:p>
            <a:fld id="{CDB8A8C9-57BA-436B-A00E-94B4570FD1D9}" type="datetimeFigureOut">
              <a:rPr lang="en-US" smtClean="0"/>
              <a:t>6/21/2026</a:t>
            </a:fld>
            <a:endParaRPr lang="en-US"/>
          </a:p>
        </p:txBody>
      </p:sp>
      <p:sp>
        <p:nvSpPr>
          <p:cNvPr id="5" name="Footer Placeholder 4">
            <a:extLst>
              <a:ext uri="{FF2B5EF4-FFF2-40B4-BE49-F238E27FC236}">
                <a16:creationId xmlns:a16="http://schemas.microsoft.com/office/drawing/2014/main" id="{010E1A6E-5707-507A-C6D9-3F3CEAD807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4AB9EB-D7C5-CCFB-70C4-B762507D1DF1}"/>
              </a:ext>
            </a:extLst>
          </p:cNvPr>
          <p:cNvSpPr>
            <a:spLocks noGrp="1"/>
          </p:cNvSpPr>
          <p:nvPr>
            <p:ph type="sldNum" sz="quarter" idx="12"/>
          </p:nvPr>
        </p:nvSpPr>
        <p:spPr/>
        <p:txBody>
          <a:bodyPr/>
          <a:lstStyle/>
          <a:p>
            <a:fld id="{7481CF88-3B48-4E7B-A977-2081F954801A}" type="slidenum">
              <a:rPr lang="en-US" smtClean="0"/>
              <a:t>‹#›</a:t>
            </a:fld>
            <a:endParaRPr lang="en-US"/>
          </a:p>
        </p:txBody>
      </p:sp>
    </p:spTree>
    <p:extLst>
      <p:ext uri="{BB962C8B-B14F-4D97-AF65-F5344CB8AC3E}">
        <p14:creationId xmlns:p14="http://schemas.microsoft.com/office/powerpoint/2010/main" val="1533380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C04F83-2BBD-EEC1-9D9A-51ABB312E6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EFA569-28B0-373B-D5CF-0D0FD9ADC2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69B24F-BB13-8346-11D9-2EC762575F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DB8A8C9-57BA-436B-A00E-94B4570FD1D9}" type="datetimeFigureOut">
              <a:rPr lang="en-US" smtClean="0"/>
              <a:t>6/21/2026</a:t>
            </a:fld>
            <a:endParaRPr lang="en-US"/>
          </a:p>
        </p:txBody>
      </p:sp>
      <p:sp>
        <p:nvSpPr>
          <p:cNvPr id="5" name="Footer Placeholder 4">
            <a:extLst>
              <a:ext uri="{FF2B5EF4-FFF2-40B4-BE49-F238E27FC236}">
                <a16:creationId xmlns:a16="http://schemas.microsoft.com/office/drawing/2014/main" id="{B6A52DF0-5D0D-12E2-C555-909F0A2B0A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771606C-5591-88C9-8ACA-BD2156FA57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481CF88-3B48-4E7B-A977-2081F954801A}" type="slidenum">
              <a:rPr lang="en-US" smtClean="0"/>
              <a:t>‹#›</a:t>
            </a:fld>
            <a:endParaRPr lang="en-US"/>
          </a:p>
        </p:txBody>
      </p:sp>
    </p:spTree>
    <p:extLst>
      <p:ext uri="{BB962C8B-B14F-4D97-AF65-F5344CB8AC3E}">
        <p14:creationId xmlns:p14="http://schemas.microsoft.com/office/powerpoint/2010/main" val="20946650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DD867-C07A-83CF-4486-B117D5232E7F}"/>
              </a:ext>
            </a:extLst>
          </p:cNvPr>
          <p:cNvSpPr>
            <a:spLocks noGrp="1"/>
          </p:cNvSpPr>
          <p:nvPr>
            <p:ph type="ctrTitle"/>
          </p:nvPr>
        </p:nvSpPr>
        <p:spPr/>
        <p:txBody>
          <a:bodyPr/>
          <a:lstStyle/>
          <a:p>
            <a:r>
              <a:rPr lang="en-GB" dirty="0"/>
              <a:t>UAE Real Estate Price</a:t>
            </a:r>
            <a:r>
              <a:rPr lang="cs-CZ" dirty="0"/>
              <a:t> </a:t>
            </a:r>
            <a:r>
              <a:rPr lang="en-GB" dirty="0"/>
              <a:t>Prediction</a:t>
            </a:r>
            <a:endParaRPr lang="en-US" dirty="0"/>
          </a:p>
        </p:txBody>
      </p:sp>
      <p:sp>
        <p:nvSpPr>
          <p:cNvPr id="3" name="Subtitle 2">
            <a:extLst>
              <a:ext uri="{FF2B5EF4-FFF2-40B4-BE49-F238E27FC236}">
                <a16:creationId xmlns:a16="http://schemas.microsoft.com/office/drawing/2014/main" id="{D82CE165-B889-809A-0A00-CE08CEBED926}"/>
              </a:ext>
            </a:extLst>
          </p:cNvPr>
          <p:cNvSpPr>
            <a:spLocks noGrp="1"/>
          </p:cNvSpPr>
          <p:nvPr>
            <p:ph type="subTitle" idx="1"/>
          </p:nvPr>
        </p:nvSpPr>
        <p:spPr/>
        <p:txBody>
          <a:bodyPr/>
          <a:lstStyle/>
          <a:p>
            <a:r>
              <a:rPr lang="en-GB" dirty="0"/>
              <a:t>A Machine Learning Approach to Automated Property Valuation</a:t>
            </a:r>
            <a:endParaRPr lang="cs-CZ" dirty="0"/>
          </a:p>
          <a:p>
            <a:endParaRPr lang="cs-CZ" dirty="0"/>
          </a:p>
          <a:p>
            <a:r>
              <a:rPr lang="en-GB" sz="2000" dirty="0"/>
              <a:t>Supervised by: </a:t>
            </a:r>
            <a:r>
              <a:rPr lang="en-GB" sz="2000" dirty="0" err="1"/>
              <a:t>Asmath</a:t>
            </a:r>
            <a:r>
              <a:rPr lang="en-GB" sz="2000" dirty="0"/>
              <a:t> </a:t>
            </a:r>
            <a:r>
              <a:rPr lang="en-GB" sz="2000" dirty="0" err="1"/>
              <a:t>Famnaz</a:t>
            </a:r>
            <a:br>
              <a:rPr lang="en-GB" sz="1800" dirty="0"/>
            </a:br>
            <a:r>
              <a:rPr lang="en-GB" sz="1800" dirty="0"/>
              <a:t>Submission Date: 21 June 2026</a:t>
            </a:r>
            <a:endParaRPr lang="en-US" sz="1800" dirty="0"/>
          </a:p>
        </p:txBody>
      </p:sp>
      <p:sp>
        <p:nvSpPr>
          <p:cNvPr id="4" name="Title 1">
            <a:extLst>
              <a:ext uri="{FF2B5EF4-FFF2-40B4-BE49-F238E27FC236}">
                <a16:creationId xmlns:a16="http://schemas.microsoft.com/office/drawing/2014/main" id="{0C17501A-9509-0263-AD31-37509FCDE07D}"/>
              </a:ext>
            </a:extLst>
          </p:cNvPr>
          <p:cNvSpPr txBox="1">
            <a:spLocks/>
          </p:cNvSpPr>
          <p:nvPr/>
        </p:nvSpPr>
        <p:spPr>
          <a:xfrm>
            <a:off x="7894320" y="0"/>
            <a:ext cx="4297680" cy="365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GB" sz="1800" dirty="0"/>
              <a:t>University of Wollongong Dubai | Spring 2026</a:t>
            </a:r>
            <a:endParaRPr lang="en-US" sz="1800" dirty="0"/>
          </a:p>
        </p:txBody>
      </p:sp>
      <p:sp>
        <p:nvSpPr>
          <p:cNvPr id="5" name="Subtitle 2">
            <a:extLst>
              <a:ext uri="{FF2B5EF4-FFF2-40B4-BE49-F238E27FC236}">
                <a16:creationId xmlns:a16="http://schemas.microsoft.com/office/drawing/2014/main" id="{BE64933C-949B-82F5-B675-7AD319644740}"/>
              </a:ext>
            </a:extLst>
          </p:cNvPr>
          <p:cNvSpPr txBox="1">
            <a:spLocks/>
          </p:cNvSpPr>
          <p:nvPr/>
        </p:nvSpPr>
        <p:spPr>
          <a:xfrm>
            <a:off x="9206948" y="5151120"/>
            <a:ext cx="2985052" cy="170688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cs-CZ" sz="1600" dirty="0"/>
              <a:t>Jan Hrusa </a:t>
            </a:r>
            <a:r>
              <a:rPr lang="en-GB" sz="1600" dirty="0"/>
              <a:t>| </a:t>
            </a:r>
            <a:r>
              <a:rPr lang="cs-CZ" sz="1600" dirty="0"/>
              <a:t>8848580</a:t>
            </a:r>
          </a:p>
          <a:p>
            <a:pPr algn="r"/>
            <a:r>
              <a:rPr lang="en-US" sz="1600" dirty="0"/>
              <a:t>Joslin Jolly</a:t>
            </a:r>
            <a:r>
              <a:rPr lang="cs-CZ" sz="1600" dirty="0"/>
              <a:t> | </a:t>
            </a:r>
            <a:r>
              <a:rPr lang="en-US" sz="1600" dirty="0"/>
              <a:t>8964178</a:t>
            </a:r>
            <a:endParaRPr lang="cs-CZ" sz="1600" dirty="0"/>
          </a:p>
          <a:p>
            <a:pPr algn="r"/>
            <a:r>
              <a:rPr lang="en-US" sz="1600" dirty="0"/>
              <a:t>Zobia Shaikh</a:t>
            </a:r>
            <a:r>
              <a:rPr lang="cs-CZ" sz="1600" dirty="0"/>
              <a:t> | </a:t>
            </a:r>
            <a:r>
              <a:rPr lang="en-US" sz="1600" dirty="0"/>
              <a:t>8881820</a:t>
            </a:r>
            <a:endParaRPr lang="cs-CZ" sz="1600" dirty="0"/>
          </a:p>
          <a:p>
            <a:pPr algn="r"/>
            <a:r>
              <a:rPr lang="en-US" sz="1600" dirty="0"/>
              <a:t>Marwa Khot</a:t>
            </a:r>
            <a:r>
              <a:rPr lang="cs-CZ" sz="1600" dirty="0"/>
              <a:t> | </a:t>
            </a:r>
            <a:r>
              <a:rPr lang="en-US" sz="1600" dirty="0"/>
              <a:t>8963186</a:t>
            </a:r>
            <a:endParaRPr lang="cs-CZ" sz="1600" dirty="0"/>
          </a:p>
          <a:p>
            <a:pPr algn="r"/>
            <a:r>
              <a:rPr lang="en-US" sz="1600" dirty="0" err="1"/>
              <a:t>Shazeel</a:t>
            </a:r>
            <a:r>
              <a:rPr lang="en-US" sz="1600" dirty="0"/>
              <a:t> Ahmed</a:t>
            </a:r>
            <a:r>
              <a:rPr lang="cs-CZ" sz="1600" dirty="0"/>
              <a:t> | </a:t>
            </a:r>
            <a:r>
              <a:rPr lang="en-US" sz="1600" dirty="0"/>
              <a:t>8958932</a:t>
            </a:r>
          </a:p>
        </p:txBody>
      </p:sp>
      <p:sp>
        <p:nvSpPr>
          <p:cNvPr id="7" name="Title 1">
            <a:extLst>
              <a:ext uri="{FF2B5EF4-FFF2-40B4-BE49-F238E27FC236}">
                <a16:creationId xmlns:a16="http://schemas.microsoft.com/office/drawing/2014/main" id="{FB5C8213-A087-C004-156C-E35B4FAB5B98}"/>
              </a:ext>
            </a:extLst>
          </p:cNvPr>
          <p:cNvSpPr txBox="1">
            <a:spLocks/>
          </p:cNvSpPr>
          <p:nvPr/>
        </p:nvSpPr>
        <p:spPr>
          <a:xfrm>
            <a:off x="0" y="0"/>
            <a:ext cx="3474720" cy="365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600" dirty="0"/>
              <a:t>CSCI323 – Modern Artificial Intelligence</a:t>
            </a:r>
            <a:endParaRPr lang="cs-CZ" sz="1600" dirty="0"/>
          </a:p>
        </p:txBody>
      </p:sp>
    </p:spTree>
    <p:extLst>
      <p:ext uri="{BB962C8B-B14F-4D97-AF65-F5344CB8AC3E}">
        <p14:creationId xmlns:p14="http://schemas.microsoft.com/office/powerpoint/2010/main" val="3267719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752E1-C26E-7FE4-B800-AF9A17AE9CB1}"/>
              </a:ext>
            </a:extLst>
          </p:cNvPr>
          <p:cNvSpPr>
            <a:spLocks noGrp="1"/>
          </p:cNvSpPr>
          <p:nvPr>
            <p:ph type="title"/>
          </p:nvPr>
        </p:nvSpPr>
        <p:spPr/>
        <p:txBody>
          <a:bodyPr>
            <a:normAutofit/>
          </a:bodyPr>
          <a:lstStyle/>
          <a:p>
            <a:pPr algn="ctr"/>
            <a:r>
              <a:rPr lang="en-GB" dirty="0"/>
              <a:t>The Problem</a:t>
            </a:r>
            <a:br>
              <a:rPr lang="cs-CZ" dirty="0"/>
            </a:br>
            <a:r>
              <a:rPr lang="en-GB" dirty="0"/>
              <a:t>UAE Real Estate Is Hard to Price</a:t>
            </a:r>
            <a:endParaRPr lang="en-US" dirty="0"/>
          </a:p>
        </p:txBody>
      </p:sp>
      <p:sp>
        <p:nvSpPr>
          <p:cNvPr id="3" name="Content Placeholder 2">
            <a:extLst>
              <a:ext uri="{FF2B5EF4-FFF2-40B4-BE49-F238E27FC236}">
                <a16:creationId xmlns:a16="http://schemas.microsoft.com/office/drawing/2014/main" id="{07A81365-0807-99B9-4FD2-A27D3C98A85F}"/>
              </a:ext>
            </a:extLst>
          </p:cNvPr>
          <p:cNvSpPr>
            <a:spLocks noGrp="1"/>
          </p:cNvSpPr>
          <p:nvPr>
            <p:ph idx="1"/>
          </p:nvPr>
        </p:nvSpPr>
        <p:spPr/>
        <p:txBody>
          <a:bodyPr>
            <a:normAutofit/>
          </a:bodyPr>
          <a:lstStyle/>
          <a:p>
            <a:r>
              <a:rPr lang="en-GB" dirty="0"/>
              <a:t>UAE is one of the world's most dynamic real estate markets</a:t>
            </a:r>
            <a:endParaRPr lang="cs-CZ" dirty="0"/>
          </a:p>
          <a:p>
            <a:r>
              <a:rPr lang="en-GB" dirty="0"/>
              <a:t>Prices vary</a:t>
            </a:r>
            <a:r>
              <a:rPr lang="cs-CZ" dirty="0"/>
              <a:t> </a:t>
            </a:r>
            <a:r>
              <a:rPr lang="cs-CZ" dirty="0" err="1"/>
              <a:t>enormously</a:t>
            </a:r>
            <a:endParaRPr lang="cs-CZ" dirty="0"/>
          </a:p>
          <a:p>
            <a:r>
              <a:rPr lang="en-GB" dirty="0"/>
              <a:t>Traditional valuation relies on a human appraiser</a:t>
            </a:r>
            <a:endParaRPr lang="cs-CZ" dirty="0"/>
          </a:p>
          <a:p>
            <a:pPr lvl="1"/>
            <a:r>
              <a:rPr lang="cs-CZ" dirty="0"/>
              <a:t>S</a:t>
            </a:r>
            <a:r>
              <a:rPr lang="en-GB" dirty="0"/>
              <a:t>low (1–3 days)</a:t>
            </a:r>
            <a:endParaRPr lang="cs-CZ" dirty="0"/>
          </a:p>
          <a:p>
            <a:pPr lvl="1"/>
            <a:r>
              <a:rPr lang="cs-CZ" dirty="0"/>
              <a:t>E</a:t>
            </a:r>
            <a:r>
              <a:rPr lang="en-GB" dirty="0" err="1"/>
              <a:t>xpensive</a:t>
            </a:r>
            <a:r>
              <a:rPr lang="en-GB" dirty="0"/>
              <a:t> (AED 1,500–5,000)</a:t>
            </a:r>
            <a:endParaRPr lang="cs-CZ" dirty="0"/>
          </a:p>
          <a:p>
            <a:pPr lvl="1"/>
            <a:r>
              <a:rPr lang="cs-CZ" dirty="0"/>
              <a:t>May </a:t>
            </a:r>
            <a:r>
              <a:rPr lang="cs-CZ" dirty="0" err="1"/>
              <a:t>be</a:t>
            </a:r>
            <a:r>
              <a:rPr lang="cs-CZ" dirty="0"/>
              <a:t> </a:t>
            </a:r>
            <a:r>
              <a:rPr lang="en-GB" dirty="0"/>
              <a:t>biased</a:t>
            </a:r>
            <a:endParaRPr lang="cs-CZ" dirty="0"/>
          </a:p>
          <a:p>
            <a:r>
              <a:rPr lang="en-GB" dirty="0"/>
              <a:t>Demand for valuations is growing</a:t>
            </a:r>
            <a:endParaRPr lang="en-US" dirty="0"/>
          </a:p>
        </p:txBody>
      </p:sp>
    </p:spTree>
    <p:extLst>
      <p:ext uri="{BB962C8B-B14F-4D97-AF65-F5344CB8AC3E}">
        <p14:creationId xmlns:p14="http://schemas.microsoft.com/office/powerpoint/2010/main" val="1261081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26A66-529B-E6D8-6EA4-FF3E55CFB8DE}"/>
              </a:ext>
            </a:extLst>
          </p:cNvPr>
          <p:cNvSpPr>
            <a:spLocks noGrp="1"/>
          </p:cNvSpPr>
          <p:nvPr>
            <p:ph type="title"/>
          </p:nvPr>
        </p:nvSpPr>
        <p:spPr/>
        <p:txBody>
          <a:bodyPr/>
          <a:lstStyle/>
          <a:p>
            <a:pPr algn="ctr"/>
            <a:r>
              <a:rPr lang="cs-CZ" dirty="0" err="1"/>
              <a:t>Solution</a:t>
            </a:r>
            <a:br>
              <a:rPr lang="cs-CZ" dirty="0"/>
            </a:br>
            <a:r>
              <a:rPr lang="cs-CZ" dirty="0" err="1"/>
              <a:t>Machine</a:t>
            </a:r>
            <a:r>
              <a:rPr lang="cs-CZ" dirty="0"/>
              <a:t> Learning</a:t>
            </a:r>
            <a:endParaRPr lang="en-US" dirty="0"/>
          </a:p>
        </p:txBody>
      </p:sp>
      <p:sp>
        <p:nvSpPr>
          <p:cNvPr id="3" name="Content Placeholder 2">
            <a:extLst>
              <a:ext uri="{FF2B5EF4-FFF2-40B4-BE49-F238E27FC236}">
                <a16:creationId xmlns:a16="http://schemas.microsoft.com/office/drawing/2014/main" id="{DC6828EE-8E7F-588C-F3FB-0C4B8561EEAB}"/>
              </a:ext>
            </a:extLst>
          </p:cNvPr>
          <p:cNvSpPr>
            <a:spLocks noGrp="1"/>
          </p:cNvSpPr>
          <p:nvPr>
            <p:ph idx="1"/>
          </p:nvPr>
        </p:nvSpPr>
        <p:spPr/>
        <p:txBody>
          <a:bodyPr>
            <a:normAutofit/>
          </a:bodyPr>
          <a:lstStyle/>
          <a:p>
            <a:r>
              <a:rPr lang="en-GB" dirty="0"/>
              <a:t>Traditional methods can't scale</a:t>
            </a:r>
            <a:endParaRPr lang="cs-CZ" dirty="0"/>
          </a:p>
          <a:p>
            <a:r>
              <a:rPr lang="en-GB" dirty="0"/>
              <a:t>Comparable-sales methods </a:t>
            </a:r>
            <a:r>
              <a:rPr lang="cs-CZ" dirty="0"/>
              <a:t>are </a:t>
            </a:r>
            <a:r>
              <a:rPr lang="cs-CZ" dirty="0" err="1"/>
              <a:t>inaccurate</a:t>
            </a:r>
            <a:endParaRPr lang="cs-CZ" dirty="0"/>
          </a:p>
          <a:p>
            <a:r>
              <a:rPr lang="en-GB" dirty="0"/>
              <a:t>Machine learning discovers relationships in large structured datasets automatically</a:t>
            </a:r>
            <a:endParaRPr lang="cs-CZ" dirty="0"/>
          </a:p>
          <a:p>
            <a:r>
              <a:rPr lang="en-GB" dirty="0"/>
              <a:t>Key advantages:</a:t>
            </a:r>
            <a:endParaRPr lang="cs-CZ" dirty="0"/>
          </a:p>
          <a:p>
            <a:pPr lvl="1"/>
            <a:r>
              <a:rPr lang="en-GB" b="1" dirty="0"/>
              <a:t>Scalability</a:t>
            </a:r>
            <a:endParaRPr lang="cs-CZ" b="1" dirty="0"/>
          </a:p>
          <a:p>
            <a:pPr lvl="1"/>
            <a:r>
              <a:rPr lang="en-GB" b="1" dirty="0"/>
              <a:t>Non-linearity</a:t>
            </a:r>
            <a:endParaRPr lang="cs-CZ" b="1" dirty="0"/>
          </a:p>
          <a:p>
            <a:pPr lvl="1"/>
            <a:r>
              <a:rPr lang="en-GB" b="1" dirty="0"/>
              <a:t>Explainability</a:t>
            </a:r>
            <a:endParaRPr lang="cs-CZ" b="1" dirty="0"/>
          </a:p>
          <a:p>
            <a:pPr lvl="1"/>
            <a:r>
              <a:rPr lang="en-GB" b="1" dirty="0"/>
              <a:t>Consistency</a:t>
            </a:r>
            <a:endParaRPr lang="en-US" dirty="0"/>
          </a:p>
        </p:txBody>
      </p:sp>
      <p:sp>
        <p:nvSpPr>
          <p:cNvPr id="4" name="Content Placeholder 2">
            <a:extLst>
              <a:ext uri="{FF2B5EF4-FFF2-40B4-BE49-F238E27FC236}">
                <a16:creationId xmlns:a16="http://schemas.microsoft.com/office/drawing/2014/main" id="{637A9FCD-A8F4-2F75-C78B-5170CD7500BA}"/>
              </a:ext>
            </a:extLst>
          </p:cNvPr>
          <p:cNvSpPr txBox="1">
            <a:spLocks/>
          </p:cNvSpPr>
          <p:nvPr/>
        </p:nvSpPr>
        <p:spPr>
          <a:xfrm>
            <a:off x="6682188" y="3830321"/>
            <a:ext cx="4818821" cy="2921000"/>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b="1" dirty="0"/>
              <a:t>Business Objectives:</a:t>
            </a:r>
            <a:endParaRPr lang="en-GB" dirty="0"/>
          </a:p>
          <a:p>
            <a:r>
              <a:rPr lang="en-GB" dirty="0"/>
              <a:t>Build a high-accuracy ML model for UAE property price prediction</a:t>
            </a:r>
          </a:p>
          <a:p>
            <a:r>
              <a:rPr lang="en-GB" dirty="0"/>
              <a:t>Deliver a usable prediction interface for non-technical users</a:t>
            </a:r>
          </a:p>
          <a:p>
            <a:r>
              <a:rPr lang="en-GB" dirty="0"/>
              <a:t>Provide a documented, reproducible, and maintainable methodology</a:t>
            </a:r>
          </a:p>
        </p:txBody>
      </p:sp>
    </p:spTree>
    <p:extLst>
      <p:ext uri="{BB962C8B-B14F-4D97-AF65-F5344CB8AC3E}">
        <p14:creationId xmlns:p14="http://schemas.microsoft.com/office/powerpoint/2010/main" val="2895184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145A2-212A-3D9D-63F0-8112E78A9B43}"/>
              </a:ext>
            </a:extLst>
          </p:cNvPr>
          <p:cNvSpPr>
            <a:spLocks noGrp="1"/>
          </p:cNvSpPr>
          <p:nvPr>
            <p:ph type="title"/>
          </p:nvPr>
        </p:nvSpPr>
        <p:spPr/>
        <p:txBody>
          <a:bodyPr/>
          <a:lstStyle/>
          <a:p>
            <a:pPr algn="ctr"/>
            <a:r>
              <a:rPr lang="en-GB" dirty="0"/>
              <a:t>Dataset and Preprocessing</a:t>
            </a:r>
            <a:endParaRPr lang="en-US" dirty="0"/>
          </a:p>
        </p:txBody>
      </p:sp>
      <p:sp>
        <p:nvSpPr>
          <p:cNvPr id="3" name="Content Placeholder 2">
            <a:extLst>
              <a:ext uri="{FF2B5EF4-FFF2-40B4-BE49-F238E27FC236}">
                <a16:creationId xmlns:a16="http://schemas.microsoft.com/office/drawing/2014/main" id="{06A65F2E-47E6-1818-D5ED-2A6FF5304375}"/>
              </a:ext>
            </a:extLst>
          </p:cNvPr>
          <p:cNvSpPr>
            <a:spLocks noGrp="1"/>
          </p:cNvSpPr>
          <p:nvPr>
            <p:ph idx="1"/>
          </p:nvPr>
        </p:nvSpPr>
        <p:spPr/>
        <p:txBody>
          <a:bodyPr>
            <a:normAutofit fontScale="92500" lnSpcReduction="20000"/>
          </a:bodyPr>
          <a:lstStyle/>
          <a:p>
            <a:r>
              <a:rPr lang="en-GB" b="1" dirty="0"/>
              <a:t>Dataset:</a:t>
            </a:r>
            <a:endParaRPr lang="en-GB" dirty="0"/>
          </a:p>
          <a:p>
            <a:pPr lvl="1"/>
            <a:r>
              <a:rPr lang="en-GB" dirty="0"/>
              <a:t>5,058 residential-for-sale listings scraped from UAE real estate platforms</a:t>
            </a:r>
          </a:p>
          <a:p>
            <a:pPr lvl="1"/>
            <a:r>
              <a:rPr lang="en-GB" dirty="0"/>
              <a:t>12 raw</a:t>
            </a:r>
            <a:r>
              <a:rPr lang="cs-CZ" dirty="0"/>
              <a:t> </a:t>
            </a:r>
            <a:r>
              <a:rPr lang="cs-CZ" dirty="0" err="1"/>
              <a:t>columns</a:t>
            </a:r>
            <a:endParaRPr lang="en-GB" dirty="0"/>
          </a:p>
          <a:p>
            <a:r>
              <a:rPr lang="en-GB" b="1" dirty="0"/>
              <a:t>Key preprocessing steps:</a:t>
            </a:r>
            <a:endParaRPr lang="en-GB" dirty="0"/>
          </a:p>
          <a:p>
            <a:pPr lvl="1"/>
            <a:r>
              <a:rPr lang="en-GB" dirty="0"/>
              <a:t>Removed constant/uninformative columns</a:t>
            </a:r>
            <a:endParaRPr lang="cs-CZ" dirty="0"/>
          </a:p>
          <a:p>
            <a:pPr lvl="1"/>
            <a:r>
              <a:rPr lang="en-GB" dirty="0"/>
              <a:t>Cleaned non-numeric values</a:t>
            </a:r>
            <a:r>
              <a:rPr lang="cs-CZ" dirty="0"/>
              <a:t> (</a:t>
            </a:r>
            <a:r>
              <a:rPr lang="en-GB" dirty="0"/>
              <a:t>"7+" </a:t>
            </a:r>
            <a:r>
              <a:rPr lang="cs-CZ" dirty="0"/>
              <a:t>-&gt;</a:t>
            </a:r>
            <a:r>
              <a:rPr lang="en-GB" dirty="0"/>
              <a:t> 7</a:t>
            </a:r>
            <a:r>
              <a:rPr lang="cs-CZ" dirty="0"/>
              <a:t> </a:t>
            </a:r>
            <a:r>
              <a:rPr lang="cs-CZ" dirty="0" err="1"/>
              <a:t>or</a:t>
            </a:r>
            <a:r>
              <a:rPr lang="cs-CZ" dirty="0"/>
              <a:t> </a:t>
            </a:r>
            <a:r>
              <a:rPr lang="en-GB" dirty="0"/>
              <a:t>"studio" </a:t>
            </a:r>
            <a:r>
              <a:rPr lang="cs-CZ" dirty="0"/>
              <a:t>-&gt;</a:t>
            </a:r>
            <a:r>
              <a:rPr lang="en-GB" dirty="0"/>
              <a:t> 0</a:t>
            </a:r>
            <a:r>
              <a:rPr lang="cs-CZ" dirty="0"/>
              <a:t>)</a:t>
            </a:r>
          </a:p>
          <a:p>
            <a:pPr lvl="1"/>
            <a:r>
              <a:rPr lang="en-GB" dirty="0"/>
              <a:t>Extracted listing month from timestamp as a seasonality signal</a:t>
            </a:r>
          </a:p>
          <a:p>
            <a:pPr lvl="1"/>
            <a:r>
              <a:rPr lang="en-GB" dirty="0"/>
              <a:t>Imputed missing values (bedrooms, bathrooms) with median</a:t>
            </a:r>
            <a:r>
              <a:rPr lang="cs-CZ" dirty="0"/>
              <a:t> (</a:t>
            </a:r>
            <a:r>
              <a:rPr lang="en-GB" dirty="0"/>
              <a:t>inside </a:t>
            </a:r>
            <a:r>
              <a:rPr lang="cs-CZ" dirty="0"/>
              <a:t>a</a:t>
            </a:r>
            <a:r>
              <a:rPr lang="en-GB" dirty="0"/>
              <a:t> pipeline to prevent leakage</a:t>
            </a:r>
            <a:r>
              <a:rPr lang="cs-CZ" dirty="0"/>
              <a:t>)</a:t>
            </a:r>
            <a:endParaRPr lang="en-GB" dirty="0"/>
          </a:p>
          <a:p>
            <a:pPr lvl="1"/>
            <a:r>
              <a:rPr lang="en-GB" dirty="0"/>
              <a:t>Removed top-10% outliers by price and</a:t>
            </a:r>
            <a:r>
              <a:rPr lang="cs-CZ" dirty="0"/>
              <a:t> </a:t>
            </a:r>
            <a:r>
              <a:rPr lang="cs-CZ" dirty="0" err="1"/>
              <a:t>size</a:t>
            </a:r>
            <a:endParaRPr lang="en-GB" dirty="0"/>
          </a:p>
          <a:p>
            <a:pPr lvl="1"/>
            <a:r>
              <a:rPr lang="en-GB" dirty="0"/>
              <a:t>One-hot encoded furnishing: NO / PARTLY / YES</a:t>
            </a:r>
          </a:p>
          <a:p>
            <a:pPr lvl="1"/>
            <a:r>
              <a:rPr lang="en-GB" b="1" dirty="0"/>
              <a:t>Log-transformed the price target</a:t>
            </a:r>
            <a:r>
              <a:rPr lang="en-GB" dirty="0"/>
              <a:t> (log1p) to reduce right-skew and stabilize training</a:t>
            </a:r>
          </a:p>
          <a:p>
            <a:endParaRPr lang="en-US" dirty="0"/>
          </a:p>
        </p:txBody>
      </p:sp>
      <p:pic>
        <p:nvPicPr>
          <p:cNvPr id="5" name="Picture 4">
            <a:extLst>
              <a:ext uri="{FF2B5EF4-FFF2-40B4-BE49-F238E27FC236}">
                <a16:creationId xmlns:a16="http://schemas.microsoft.com/office/drawing/2014/main" id="{4D0C3CF5-B8FA-D79A-562E-0ADB8F9C5A24}"/>
              </a:ext>
            </a:extLst>
          </p:cNvPr>
          <p:cNvPicPr>
            <a:picLocks noChangeAspect="1"/>
          </p:cNvPicPr>
          <p:nvPr/>
        </p:nvPicPr>
        <p:blipFill>
          <a:blip r:embed="rId3"/>
          <a:stretch>
            <a:fillRect/>
          </a:stretch>
        </p:blipFill>
        <p:spPr>
          <a:xfrm>
            <a:off x="10615291" y="438459"/>
            <a:ext cx="1162058" cy="2181241"/>
          </a:xfrm>
          <a:prstGeom prst="rect">
            <a:avLst/>
          </a:prstGeom>
        </p:spPr>
      </p:pic>
    </p:spTree>
    <p:extLst>
      <p:ext uri="{BB962C8B-B14F-4D97-AF65-F5344CB8AC3E}">
        <p14:creationId xmlns:p14="http://schemas.microsoft.com/office/powerpoint/2010/main" val="372068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3196C-627A-AB02-87E0-63B09E501155}"/>
              </a:ext>
            </a:extLst>
          </p:cNvPr>
          <p:cNvSpPr>
            <a:spLocks noGrp="1"/>
          </p:cNvSpPr>
          <p:nvPr>
            <p:ph type="title"/>
          </p:nvPr>
        </p:nvSpPr>
        <p:spPr/>
        <p:txBody>
          <a:bodyPr/>
          <a:lstStyle/>
          <a:p>
            <a:pPr algn="ctr"/>
            <a:r>
              <a:rPr lang="en-GB" dirty="0"/>
              <a:t>Feature Engineering &amp; Pipeline Architecture</a:t>
            </a:r>
            <a:endParaRPr lang="en-US" dirty="0"/>
          </a:p>
        </p:txBody>
      </p:sp>
      <p:sp>
        <p:nvSpPr>
          <p:cNvPr id="6" name="TextBox 5">
            <a:extLst>
              <a:ext uri="{FF2B5EF4-FFF2-40B4-BE49-F238E27FC236}">
                <a16:creationId xmlns:a16="http://schemas.microsoft.com/office/drawing/2014/main" id="{73FA797A-58BC-6BE2-FB78-2F3D4399753C}"/>
              </a:ext>
            </a:extLst>
          </p:cNvPr>
          <p:cNvSpPr txBox="1"/>
          <p:nvPr/>
        </p:nvSpPr>
        <p:spPr>
          <a:xfrm>
            <a:off x="929778" y="1928019"/>
            <a:ext cx="6095170" cy="369332"/>
          </a:xfrm>
          <a:prstGeom prst="rect">
            <a:avLst/>
          </a:prstGeom>
          <a:noFill/>
        </p:spPr>
        <p:txBody>
          <a:bodyPr wrap="square">
            <a:spAutoFit/>
          </a:bodyPr>
          <a:lstStyle/>
          <a:p>
            <a:pPr>
              <a:buNone/>
            </a:pPr>
            <a:r>
              <a:rPr lang="en-GB" b="1" dirty="0"/>
              <a:t>5 Engineered Features:</a:t>
            </a:r>
            <a:endParaRPr lang="en-GB" dirty="0"/>
          </a:p>
        </p:txBody>
      </p:sp>
      <p:graphicFrame>
        <p:nvGraphicFramePr>
          <p:cNvPr id="7" name="Content Placeholder 3">
            <a:extLst>
              <a:ext uri="{FF2B5EF4-FFF2-40B4-BE49-F238E27FC236}">
                <a16:creationId xmlns:a16="http://schemas.microsoft.com/office/drawing/2014/main" id="{105986FF-C0B4-B69D-FDDD-E20BBFB9DA40}"/>
              </a:ext>
            </a:extLst>
          </p:cNvPr>
          <p:cNvGraphicFramePr>
            <a:graphicFrameLocks/>
          </p:cNvGraphicFramePr>
          <p:nvPr>
            <p:extLst>
              <p:ext uri="{D42A27DB-BD31-4B8C-83A1-F6EECF244321}">
                <p14:modId xmlns:p14="http://schemas.microsoft.com/office/powerpoint/2010/main" val="91315519"/>
              </p:ext>
            </p:extLst>
          </p:nvPr>
        </p:nvGraphicFramePr>
        <p:xfrm>
          <a:off x="721360" y="4483555"/>
          <a:ext cx="10515600" cy="1463040"/>
        </p:xfrm>
        <a:graphic>
          <a:graphicData uri="http://schemas.openxmlformats.org/drawingml/2006/table">
            <a:tbl>
              <a:tblPr/>
              <a:tblGrid>
                <a:gridCol w="10515600">
                  <a:extLst>
                    <a:ext uri="{9D8B030D-6E8A-4147-A177-3AD203B41FA5}">
                      <a16:colId xmlns:a16="http://schemas.microsoft.com/office/drawing/2014/main" val="3748185560"/>
                    </a:ext>
                  </a:extLst>
                </a:gridCol>
              </a:tblGrid>
              <a:tr h="0">
                <a:tc>
                  <a:txBody>
                    <a:bodyPr/>
                    <a:lstStyle/>
                    <a:p>
                      <a:r>
                        <a:rPr lang="en-GB" b="1" dirty="0"/>
                        <a:t>Pipeline Branches (</a:t>
                      </a:r>
                      <a:r>
                        <a:rPr lang="en-GB" b="1" dirty="0" err="1"/>
                        <a:t>ColumnTransformer</a:t>
                      </a:r>
                      <a:r>
                        <a:rPr lang="en-GB" b="1" dirty="0"/>
                        <a:t>):</a:t>
                      </a:r>
                      <a:endParaRPr lang="en-GB" dirty="0"/>
                    </a:p>
                    <a:p>
                      <a:r>
                        <a:rPr lang="en-GB" dirty="0"/>
                        <a:t>Numeric Group 1</a:t>
                      </a:r>
                      <a:r>
                        <a:rPr lang="cs-CZ" dirty="0"/>
                        <a:t> (</a:t>
                      </a:r>
                      <a:r>
                        <a:rPr lang="cs-CZ" dirty="0" err="1"/>
                        <a:t>numerical</a:t>
                      </a:r>
                      <a:r>
                        <a:rPr lang="cs-CZ" dirty="0"/>
                        <a:t> </a:t>
                      </a:r>
                      <a:r>
                        <a:rPr lang="cs-CZ" dirty="0" err="1"/>
                        <a:t>features</a:t>
                      </a:r>
                      <a:r>
                        <a:rPr lang="cs-CZ" dirty="0"/>
                        <a:t>)</a:t>
                      </a:r>
                      <a:r>
                        <a:rPr lang="en-GB" dirty="0"/>
                        <a:t> </a:t>
                      </a:r>
                      <a:r>
                        <a:rPr lang="cs-CZ" dirty="0"/>
                        <a:t>-&gt;</a:t>
                      </a:r>
                      <a:r>
                        <a:rPr lang="en-GB" dirty="0"/>
                        <a:t> Median imputation </a:t>
                      </a:r>
                      <a:r>
                        <a:rPr lang="cs-CZ" dirty="0"/>
                        <a:t>-&gt;</a:t>
                      </a:r>
                      <a:r>
                        <a:rPr lang="en-GB" dirty="0"/>
                        <a:t> </a:t>
                      </a:r>
                      <a:r>
                        <a:rPr lang="en-GB" dirty="0" err="1"/>
                        <a:t>StandardScaler</a:t>
                      </a:r>
                      <a:endParaRPr lang="en-GB" dirty="0"/>
                    </a:p>
                    <a:p>
                      <a:r>
                        <a:rPr lang="en-GB" dirty="0"/>
                        <a:t>Numeric Group 2 (size features) </a:t>
                      </a:r>
                      <a:r>
                        <a:rPr lang="cs-CZ" dirty="0"/>
                        <a:t>-&gt;</a:t>
                      </a:r>
                      <a:r>
                        <a:rPr lang="en-GB" dirty="0"/>
                        <a:t> Median imputation </a:t>
                      </a:r>
                      <a:r>
                        <a:rPr lang="cs-CZ" dirty="0"/>
                        <a:t>-&gt;</a:t>
                      </a:r>
                      <a:r>
                        <a:rPr lang="en-GB" dirty="0"/>
                        <a:t> log1p </a:t>
                      </a:r>
                      <a:r>
                        <a:rPr lang="cs-CZ" dirty="0"/>
                        <a:t>-&gt;</a:t>
                      </a:r>
                      <a:r>
                        <a:rPr lang="en-GB" dirty="0"/>
                        <a:t> </a:t>
                      </a:r>
                      <a:r>
                        <a:rPr lang="en-GB" dirty="0" err="1"/>
                        <a:t>StandardScaler</a:t>
                      </a:r>
                      <a:endParaRPr lang="en-GB" dirty="0"/>
                    </a:p>
                    <a:p>
                      <a:r>
                        <a:rPr lang="en-GB" dirty="0"/>
                        <a:t>Location (area + city) </a:t>
                      </a:r>
                      <a:r>
                        <a:rPr lang="cs-CZ" dirty="0"/>
                        <a:t>-&gt;</a:t>
                      </a:r>
                      <a:r>
                        <a:rPr lang="en-GB" dirty="0"/>
                        <a:t> </a:t>
                      </a:r>
                      <a:r>
                        <a:rPr lang="en-GB" dirty="0" err="1"/>
                        <a:t>TargetEncoder</a:t>
                      </a:r>
                      <a:r>
                        <a:rPr lang="en-GB" dirty="0"/>
                        <a:t> (with cross-fitting to prevent leakage)</a:t>
                      </a:r>
                    </a:p>
                    <a:p>
                      <a:r>
                        <a:rPr lang="en-GB" dirty="0"/>
                        <a:t>Binary flags (verified, furnishing dummies) </a:t>
                      </a:r>
                      <a:r>
                        <a:rPr lang="cs-CZ" dirty="0"/>
                        <a:t>-&gt;</a:t>
                      </a:r>
                      <a:r>
                        <a:rPr lang="en-GB" dirty="0"/>
                        <a:t> pass-through</a:t>
                      </a:r>
                    </a:p>
                  </a:txBody>
                  <a:tcPr anchor="ctr">
                    <a:lnL>
                      <a:noFill/>
                    </a:lnL>
                    <a:lnR>
                      <a:noFill/>
                    </a:lnR>
                    <a:lnT>
                      <a:noFill/>
                    </a:lnT>
                    <a:lnB>
                      <a:noFill/>
                    </a:lnB>
                    <a:noFill/>
                  </a:tcPr>
                </a:tc>
                <a:extLst>
                  <a:ext uri="{0D108BD9-81ED-4DB2-BD59-A6C34878D82A}">
                    <a16:rowId xmlns:a16="http://schemas.microsoft.com/office/drawing/2014/main" val="4131363"/>
                  </a:ext>
                </a:extLst>
              </a:tr>
            </a:tbl>
          </a:graphicData>
        </a:graphic>
      </p:graphicFrame>
      <p:pic>
        <p:nvPicPr>
          <p:cNvPr id="5" name="Picture 4">
            <a:extLst>
              <a:ext uri="{FF2B5EF4-FFF2-40B4-BE49-F238E27FC236}">
                <a16:creationId xmlns:a16="http://schemas.microsoft.com/office/drawing/2014/main" id="{9C3A72A3-5543-A31E-76B7-80E6588AFE90}"/>
              </a:ext>
            </a:extLst>
          </p:cNvPr>
          <p:cNvPicPr>
            <a:picLocks noChangeAspect="1"/>
          </p:cNvPicPr>
          <p:nvPr/>
        </p:nvPicPr>
        <p:blipFill>
          <a:blip r:embed="rId3"/>
          <a:stretch>
            <a:fillRect/>
          </a:stretch>
        </p:blipFill>
        <p:spPr>
          <a:xfrm>
            <a:off x="9296400" y="4402614"/>
            <a:ext cx="2243499" cy="1696042"/>
          </a:xfrm>
          <a:prstGeom prst="rect">
            <a:avLst/>
          </a:prstGeom>
        </p:spPr>
      </p:pic>
      <p:pic>
        <p:nvPicPr>
          <p:cNvPr id="11" name="Picture 10">
            <a:extLst>
              <a:ext uri="{FF2B5EF4-FFF2-40B4-BE49-F238E27FC236}">
                <a16:creationId xmlns:a16="http://schemas.microsoft.com/office/drawing/2014/main" id="{F61778BA-FDBA-8AF6-F282-0216469749A1}"/>
              </a:ext>
            </a:extLst>
          </p:cNvPr>
          <p:cNvPicPr>
            <a:picLocks noChangeAspect="1"/>
          </p:cNvPicPr>
          <p:nvPr/>
        </p:nvPicPr>
        <p:blipFill>
          <a:blip r:embed="rId4"/>
          <a:stretch>
            <a:fillRect/>
          </a:stretch>
        </p:blipFill>
        <p:spPr>
          <a:xfrm>
            <a:off x="4674850" y="2297351"/>
            <a:ext cx="5372139" cy="1685937"/>
          </a:xfrm>
          <a:prstGeom prst="rect">
            <a:avLst/>
          </a:prstGeom>
        </p:spPr>
      </p:pic>
    </p:spTree>
    <p:extLst>
      <p:ext uri="{BB962C8B-B14F-4D97-AF65-F5344CB8AC3E}">
        <p14:creationId xmlns:p14="http://schemas.microsoft.com/office/powerpoint/2010/main" val="535319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EA6A7-DF14-034D-E320-C4A979168739}"/>
              </a:ext>
            </a:extLst>
          </p:cNvPr>
          <p:cNvSpPr>
            <a:spLocks noGrp="1"/>
          </p:cNvSpPr>
          <p:nvPr>
            <p:ph type="title"/>
          </p:nvPr>
        </p:nvSpPr>
        <p:spPr/>
        <p:txBody>
          <a:bodyPr/>
          <a:lstStyle/>
          <a:p>
            <a:pPr algn="ctr"/>
            <a:r>
              <a:rPr lang="en-GB" dirty="0"/>
              <a:t>Four Models Compared</a:t>
            </a:r>
            <a:endParaRPr lang="en-US" dirty="0"/>
          </a:p>
        </p:txBody>
      </p:sp>
      <p:sp>
        <p:nvSpPr>
          <p:cNvPr id="3" name="Content Placeholder 2">
            <a:extLst>
              <a:ext uri="{FF2B5EF4-FFF2-40B4-BE49-F238E27FC236}">
                <a16:creationId xmlns:a16="http://schemas.microsoft.com/office/drawing/2014/main" id="{3922C1C7-ED11-1DEB-C557-EE0DD8167CFF}"/>
              </a:ext>
            </a:extLst>
          </p:cNvPr>
          <p:cNvSpPr>
            <a:spLocks noGrp="1"/>
          </p:cNvSpPr>
          <p:nvPr>
            <p:ph idx="1"/>
          </p:nvPr>
        </p:nvSpPr>
        <p:spPr/>
        <p:txBody>
          <a:bodyPr>
            <a:normAutofit fontScale="85000" lnSpcReduction="20000"/>
          </a:bodyPr>
          <a:lstStyle/>
          <a:p>
            <a:r>
              <a:rPr lang="en-GB" b="1" dirty="0"/>
              <a:t>Models selected (simple </a:t>
            </a:r>
            <a:r>
              <a:rPr lang="cs-CZ" b="1" dirty="0"/>
              <a:t>-&gt;</a:t>
            </a:r>
            <a:r>
              <a:rPr lang="en-GB" b="1" dirty="0"/>
              <a:t> complex):</a:t>
            </a:r>
            <a:endParaRPr lang="en-GB" dirty="0"/>
          </a:p>
          <a:p>
            <a:pPr lvl="1"/>
            <a:r>
              <a:rPr lang="en-GB" b="1" dirty="0"/>
              <a:t>Ridge Regression</a:t>
            </a:r>
            <a:endParaRPr lang="cs-CZ" b="1" dirty="0"/>
          </a:p>
          <a:p>
            <a:pPr lvl="2"/>
            <a:r>
              <a:rPr lang="cs-CZ" dirty="0"/>
              <a:t>A „</a:t>
            </a:r>
            <a:r>
              <a:rPr lang="cs-CZ" dirty="0" err="1"/>
              <a:t>simple</a:t>
            </a:r>
            <a:r>
              <a:rPr lang="cs-CZ" dirty="0"/>
              <a:t>“ </a:t>
            </a:r>
            <a:r>
              <a:rPr lang="cs-CZ" dirty="0" err="1"/>
              <a:t>linear</a:t>
            </a:r>
            <a:r>
              <a:rPr lang="cs-CZ" dirty="0"/>
              <a:t> </a:t>
            </a:r>
            <a:r>
              <a:rPr lang="cs-CZ" dirty="0" err="1"/>
              <a:t>regression</a:t>
            </a:r>
            <a:r>
              <a:rPr lang="cs-CZ" dirty="0"/>
              <a:t> model</a:t>
            </a:r>
            <a:endParaRPr lang="en-GB" dirty="0"/>
          </a:p>
          <a:p>
            <a:pPr lvl="1"/>
            <a:r>
              <a:rPr lang="en-GB" b="1" dirty="0"/>
              <a:t>Random Forest</a:t>
            </a:r>
            <a:endParaRPr lang="cs-CZ" b="1" dirty="0"/>
          </a:p>
          <a:p>
            <a:pPr lvl="2"/>
            <a:r>
              <a:rPr lang="cs-CZ" dirty="0"/>
              <a:t>E</a:t>
            </a:r>
            <a:r>
              <a:rPr lang="en-GB" dirty="0" err="1"/>
              <a:t>nsemble</a:t>
            </a:r>
            <a:r>
              <a:rPr lang="en-GB" dirty="0"/>
              <a:t> of trees</a:t>
            </a:r>
          </a:p>
          <a:p>
            <a:pPr lvl="1"/>
            <a:r>
              <a:rPr lang="en-GB" b="1" dirty="0" err="1"/>
              <a:t>HistGradientBoosting</a:t>
            </a:r>
            <a:r>
              <a:rPr lang="en-GB" b="1" dirty="0"/>
              <a:t> (HGB)</a:t>
            </a:r>
            <a:endParaRPr lang="cs-CZ" b="1" dirty="0"/>
          </a:p>
          <a:p>
            <a:pPr lvl="2"/>
            <a:r>
              <a:rPr lang="cs-CZ" dirty="0"/>
              <a:t>S</a:t>
            </a:r>
            <a:r>
              <a:rPr lang="en-GB" dirty="0" err="1"/>
              <a:t>cikit-learn's</a:t>
            </a:r>
            <a:r>
              <a:rPr lang="en-GB" dirty="0"/>
              <a:t> </a:t>
            </a:r>
            <a:r>
              <a:rPr lang="en-GB" dirty="0" err="1"/>
              <a:t>LightGBM</a:t>
            </a:r>
            <a:r>
              <a:rPr lang="en-GB" dirty="0"/>
              <a:t>-</a:t>
            </a:r>
            <a:r>
              <a:rPr lang="cs-CZ" dirty="0" err="1"/>
              <a:t>inspired</a:t>
            </a:r>
            <a:r>
              <a:rPr lang="en-GB" dirty="0"/>
              <a:t> boosting</a:t>
            </a:r>
          </a:p>
          <a:p>
            <a:pPr lvl="1"/>
            <a:r>
              <a:rPr lang="en-GB" b="1" dirty="0" err="1"/>
              <a:t>CatBoost</a:t>
            </a:r>
            <a:endParaRPr lang="cs-CZ" b="1" dirty="0"/>
          </a:p>
          <a:p>
            <a:pPr lvl="2"/>
            <a:r>
              <a:rPr lang="cs-CZ" dirty="0"/>
              <a:t>Most </a:t>
            </a:r>
            <a:r>
              <a:rPr lang="cs-CZ" dirty="0" err="1"/>
              <a:t>modern</a:t>
            </a:r>
            <a:r>
              <a:rPr lang="cs-CZ" dirty="0"/>
              <a:t> and </a:t>
            </a:r>
            <a:r>
              <a:rPr lang="cs-CZ" dirty="0" err="1"/>
              <a:t>state</a:t>
            </a:r>
            <a:r>
              <a:rPr lang="cs-CZ" dirty="0"/>
              <a:t>-</a:t>
            </a:r>
            <a:r>
              <a:rPr lang="cs-CZ" dirty="0" err="1"/>
              <a:t>of</a:t>
            </a:r>
            <a:r>
              <a:rPr lang="cs-CZ" dirty="0"/>
              <a:t>-</a:t>
            </a:r>
            <a:r>
              <a:rPr lang="cs-CZ" dirty="0" err="1"/>
              <a:t>the</a:t>
            </a:r>
            <a:r>
              <a:rPr lang="cs-CZ" dirty="0"/>
              <a:t>-art model</a:t>
            </a:r>
          </a:p>
          <a:p>
            <a:endParaRPr lang="cs-CZ" b="1" dirty="0"/>
          </a:p>
          <a:p>
            <a:r>
              <a:rPr lang="en-GB" b="1" dirty="0"/>
              <a:t>Evaluation strategy:</a:t>
            </a:r>
            <a:endParaRPr lang="en-GB" dirty="0"/>
          </a:p>
          <a:p>
            <a:pPr lvl="1"/>
            <a:r>
              <a:rPr lang="en-GB" dirty="0"/>
              <a:t>5-fold cross-validation</a:t>
            </a:r>
          </a:p>
          <a:p>
            <a:pPr lvl="1"/>
            <a:r>
              <a:rPr lang="en-GB" dirty="0"/>
              <a:t>Metric: R² on log-scale prices</a:t>
            </a:r>
          </a:p>
          <a:p>
            <a:pPr lvl="1"/>
            <a:r>
              <a:rPr lang="en-GB" dirty="0"/>
              <a:t>80/20 stratified train/test split (stratified by price)</a:t>
            </a:r>
          </a:p>
          <a:p>
            <a:endParaRPr lang="en-US" dirty="0"/>
          </a:p>
        </p:txBody>
      </p:sp>
    </p:spTree>
    <p:extLst>
      <p:ext uri="{BB962C8B-B14F-4D97-AF65-F5344CB8AC3E}">
        <p14:creationId xmlns:p14="http://schemas.microsoft.com/office/powerpoint/2010/main" val="197335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0A4F2-97BC-CF8F-CDD2-E32E0272BEF5}"/>
              </a:ext>
            </a:extLst>
          </p:cNvPr>
          <p:cNvSpPr>
            <a:spLocks noGrp="1"/>
          </p:cNvSpPr>
          <p:nvPr>
            <p:ph type="title"/>
          </p:nvPr>
        </p:nvSpPr>
        <p:spPr/>
        <p:txBody>
          <a:bodyPr/>
          <a:lstStyle/>
          <a:p>
            <a:pPr algn="ctr"/>
            <a:r>
              <a:rPr lang="en-GB" dirty="0"/>
              <a:t>Hyperparameter Tuning</a:t>
            </a:r>
            <a:endParaRPr lang="en-US" dirty="0"/>
          </a:p>
        </p:txBody>
      </p:sp>
      <p:sp>
        <p:nvSpPr>
          <p:cNvPr id="3" name="Content Placeholder 2">
            <a:extLst>
              <a:ext uri="{FF2B5EF4-FFF2-40B4-BE49-F238E27FC236}">
                <a16:creationId xmlns:a16="http://schemas.microsoft.com/office/drawing/2014/main" id="{EE5DD855-785C-AD10-D86A-FD01D6D411F4}"/>
              </a:ext>
            </a:extLst>
          </p:cNvPr>
          <p:cNvSpPr>
            <a:spLocks noGrp="1"/>
          </p:cNvSpPr>
          <p:nvPr>
            <p:ph idx="1"/>
          </p:nvPr>
        </p:nvSpPr>
        <p:spPr/>
        <p:txBody>
          <a:bodyPr>
            <a:normAutofit/>
          </a:bodyPr>
          <a:lstStyle/>
          <a:p>
            <a:r>
              <a:rPr lang="en-GB" b="1" dirty="0"/>
              <a:t>Method:</a:t>
            </a:r>
            <a:r>
              <a:rPr lang="en-GB" dirty="0"/>
              <a:t> </a:t>
            </a:r>
            <a:r>
              <a:rPr lang="en-GB" dirty="0" err="1"/>
              <a:t>RandomizedSearchCV</a:t>
            </a:r>
            <a:endParaRPr lang="cs-CZ" dirty="0"/>
          </a:p>
          <a:p>
            <a:endParaRPr lang="en-GB" dirty="0"/>
          </a:p>
          <a:p>
            <a:r>
              <a:rPr lang="en-GB" b="1" dirty="0"/>
              <a:t>What was tuned:</a:t>
            </a:r>
            <a:endParaRPr lang="en-GB" dirty="0"/>
          </a:p>
        </p:txBody>
      </p:sp>
      <p:pic>
        <p:nvPicPr>
          <p:cNvPr id="5" name="Picture 4">
            <a:extLst>
              <a:ext uri="{FF2B5EF4-FFF2-40B4-BE49-F238E27FC236}">
                <a16:creationId xmlns:a16="http://schemas.microsoft.com/office/drawing/2014/main" id="{5DFC1E71-FCDE-37DE-4C97-0157143EE77C}"/>
              </a:ext>
            </a:extLst>
          </p:cNvPr>
          <p:cNvPicPr>
            <a:picLocks noChangeAspect="1"/>
          </p:cNvPicPr>
          <p:nvPr/>
        </p:nvPicPr>
        <p:blipFill>
          <a:blip r:embed="rId3"/>
          <a:stretch>
            <a:fillRect/>
          </a:stretch>
        </p:blipFill>
        <p:spPr>
          <a:xfrm>
            <a:off x="5334000" y="3655638"/>
            <a:ext cx="3408680" cy="2656262"/>
          </a:xfrm>
          <a:prstGeom prst="rect">
            <a:avLst/>
          </a:prstGeom>
        </p:spPr>
      </p:pic>
    </p:spTree>
    <p:extLst>
      <p:ext uri="{BB962C8B-B14F-4D97-AF65-F5344CB8AC3E}">
        <p14:creationId xmlns:p14="http://schemas.microsoft.com/office/powerpoint/2010/main" val="3023512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883DF-18E4-90DC-8021-A634A778922C}"/>
              </a:ext>
            </a:extLst>
          </p:cNvPr>
          <p:cNvSpPr>
            <a:spLocks noGrp="1"/>
          </p:cNvSpPr>
          <p:nvPr>
            <p:ph type="title"/>
          </p:nvPr>
        </p:nvSpPr>
        <p:spPr/>
        <p:txBody>
          <a:bodyPr/>
          <a:lstStyle/>
          <a:p>
            <a:pPr algn="ctr"/>
            <a:r>
              <a:rPr lang="en-GB" dirty="0"/>
              <a:t>Results</a:t>
            </a:r>
            <a:br>
              <a:rPr lang="cs-CZ" dirty="0"/>
            </a:br>
            <a:r>
              <a:rPr lang="en-GB" dirty="0"/>
              <a:t>Model Performance</a:t>
            </a:r>
            <a:endParaRPr lang="en-US" dirty="0"/>
          </a:p>
        </p:txBody>
      </p:sp>
      <p:pic>
        <p:nvPicPr>
          <p:cNvPr id="9" name="Picture 8">
            <a:extLst>
              <a:ext uri="{FF2B5EF4-FFF2-40B4-BE49-F238E27FC236}">
                <a16:creationId xmlns:a16="http://schemas.microsoft.com/office/drawing/2014/main" id="{1783F4C3-6609-B520-6183-9F7628D7D295}"/>
              </a:ext>
            </a:extLst>
          </p:cNvPr>
          <p:cNvPicPr>
            <a:picLocks noChangeAspect="1"/>
          </p:cNvPicPr>
          <p:nvPr/>
        </p:nvPicPr>
        <p:blipFill>
          <a:blip r:embed="rId3"/>
          <a:stretch>
            <a:fillRect/>
          </a:stretch>
        </p:blipFill>
        <p:spPr>
          <a:xfrm>
            <a:off x="7264400" y="2692876"/>
            <a:ext cx="3791605" cy="3578085"/>
          </a:xfrm>
          <a:prstGeom prst="rect">
            <a:avLst/>
          </a:prstGeom>
        </p:spPr>
      </p:pic>
      <p:pic>
        <p:nvPicPr>
          <p:cNvPr id="13" name="Picture 12">
            <a:extLst>
              <a:ext uri="{FF2B5EF4-FFF2-40B4-BE49-F238E27FC236}">
                <a16:creationId xmlns:a16="http://schemas.microsoft.com/office/drawing/2014/main" id="{551A12A0-D757-DCF0-BFF2-4A56873F47F3}"/>
              </a:ext>
            </a:extLst>
          </p:cNvPr>
          <p:cNvPicPr>
            <a:picLocks noChangeAspect="1"/>
          </p:cNvPicPr>
          <p:nvPr/>
        </p:nvPicPr>
        <p:blipFill>
          <a:blip r:embed="rId4"/>
          <a:stretch>
            <a:fillRect/>
          </a:stretch>
        </p:blipFill>
        <p:spPr>
          <a:xfrm>
            <a:off x="3162278" y="2728907"/>
            <a:ext cx="5867443" cy="1400185"/>
          </a:xfrm>
          <a:prstGeom prst="rect">
            <a:avLst/>
          </a:prstGeom>
        </p:spPr>
      </p:pic>
    </p:spTree>
    <p:extLst>
      <p:ext uri="{BB962C8B-B14F-4D97-AF65-F5344CB8AC3E}">
        <p14:creationId xmlns:p14="http://schemas.microsoft.com/office/powerpoint/2010/main" val="2543577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A567-A5B1-1A4C-BC4D-A8EA7563904B}"/>
              </a:ext>
            </a:extLst>
          </p:cNvPr>
          <p:cNvSpPr>
            <a:spLocks noGrp="1"/>
          </p:cNvSpPr>
          <p:nvPr>
            <p:ph type="title"/>
          </p:nvPr>
        </p:nvSpPr>
        <p:spPr/>
        <p:txBody>
          <a:bodyPr/>
          <a:lstStyle/>
          <a:p>
            <a:pPr algn="ctr"/>
            <a:r>
              <a:rPr lang="en-GB" dirty="0"/>
              <a:t>Final Test Set Performance</a:t>
            </a:r>
            <a:endParaRPr lang="en-US" dirty="0"/>
          </a:p>
        </p:txBody>
      </p:sp>
      <p:sp>
        <p:nvSpPr>
          <p:cNvPr id="6" name="TextBox 5">
            <a:extLst>
              <a:ext uri="{FF2B5EF4-FFF2-40B4-BE49-F238E27FC236}">
                <a16:creationId xmlns:a16="http://schemas.microsoft.com/office/drawing/2014/main" id="{F59B0298-F51C-CE51-63DD-9B86E7D2975E}"/>
              </a:ext>
            </a:extLst>
          </p:cNvPr>
          <p:cNvSpPr txBox="1"/>
          <p:nvPr/>
        </p:nvSpPr>
        <p:spPr>
          <a:xfrm>
            <a:off x="3047586" y="1859340"/>
            <a:ext cx="6095170" cy="646331"/>
          </a:xfrm>
          <a:prstGeom prst="rect">
            <a:avLst/>
          </a:prstGeom>
          <a:noFill/>
        </p:spPr>
        <p:txBody>
          <a:bodyPr wrap="square">
            <a:spAutoFit/>
          </a:bodyPr>
          <a:lstStyle/>
          <a:p>
            <a:pPr>
              <a:buNone/>
            </a:pPr>
            <a:r>
              <a:rPr lang="en-GB" b="1" dirty="0"/>
              <a:t>HGB retrained on full training set, evaluated once on held-out 20%:</a:t>
            </a:r>
            <a:endParaRPr lang="en-GB" dirty="0"/>
          </a:p>
        </p:txBody>
      </p:sp>
      <p:pic>
        <p:nvPicPr>
          <p:cNvPr id="11" name="Picture 10">
            <a:extLst>
              <a:ext uri="{FF2B5EF4-FFF2-40B4-BE49-F238E27FC236}">
                <a16:creationId xmlns:a16="http://schemas.microsoft.com/office/drawing/2014/main" id="{BC5FB54D-03C2-3CB6-2F83-9B136B501443}"/>
              </a:ext>
            </a:extLst>
          </p:cNvPr>
          <p:cNvPicPr>
            <a:picLocks noChangeAspect="1"/>
          </p:cNvPicPr>
          <p:nvPr/>
        </p:nvPicPr>
        <p:blipFill>
          <a:blip r:embed="rId3"/>
          <a:stretch>
            <a:fillRect/>
          </a:stretch>
        </p:blipFill>
        <p:spPr>
          <a:xfrm>
            <a:off x="4210036" y="2747957"/>
            <a:ext cx="3771928" cy="1362085"/>
          </a:xfrm>
          <a:prstGeom prst="rect">
            <a:avLst/>
          </a:prstGeom>
        </p:spPr>
      </p:pic>
      <p:pic>
        <p:nvPicPr>
          <p:cNvPr id="13" name="Picture 12">
            <a:extLst>
              <a:ext uri="{FF2B5EF4-FFF2-40B4-BE49-F238E27FC236}">
                <a16:creationId xmlns:a16="http://schemas.microsoft.com/office/drawing/2014/main" id="{D8B4DE1C-8204-CFCD-000A-A82175DF8C44}"/>
              </a:ext>
            </a:extLst>
          </p:cNvPr>
          <p:cNvPicPr>
            <a:picLocks noChangeAspect="1"/>
          </p:cNvPicPr>
          <p:nvPr/>
        </p:nvPicPr>
        <p:blipFill>
          <a:blip r:embed="rId4"/>
          <a:stretch>
            <a:fillRect/>
          </a:stretch>
        </p:blipFill>
        <p:spPr>
          <a:xfrm>
            <a:off x="543560" y="2747957"/>
            <a:ext cx="3114040" cy="3114040"/>
          </a:xfrm>
          <a:prstGeom prst="rect">
            <a:avLst/>
          </a:prstGeom>
        </p:spPr>
      </p:pic>
    </p:spTree>
    <p:extLst>
      <p:ext uri="{BB962C8B-B14F-4D97-AF65-F5344CB8AC3E}">
        <p14:creationId xmlns:p14="http://schemas.microsoft.com/office/powerpoint/2010/main" val="87736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F0D3F-BA91-90CB-EF6B-7E7D5050A3EB}"/>
              </a:ext>
            </a:extLst>
          </p:cNvPr>
          <p:cNvSpPr>
            <a:spLocks noGrp="1"/>
          </p:cNvSpPr>
          <p:nvPr>
            <p:ph type="title"/>
          </p:nvPr>
        </p:nvSpPr>
        <p:spPr/>
        <p:txBody>
          <a:bodyPr/>
          <a:lstStyle/>
          <a:p>
            <a:pPr algn="ctr"/>
            <a:r>
              <a:rPr lang="en-GB" dirty="0"/>
              <a:t>Business Impact</a:t>
            </a:r>
            <a:endParaRPr lang="en-US" dirty="0"/>
          </a:p>
        </p:txBody>
      </p:sp>
      <p:sp>
        <p:nvSpPr>
          <p:cNvPr id="3" name="Content Placeholder 2">
            <a:extLst>
              <a:ext uri="{FF2B5EF4-FFF2-40B4-BE49-F238E27FC236}">
                <a16:creationId xmlns:a16="http://schemas.microsoft.com/office/drawing/2014/main" id="{DC645A4F-2669-1B98-BEE4-DA51D6E77EE6}"/>
              </a:ext>
            </a:extLst>
          </p:cNvPr>
          <p:cNvSpPr>
            <a:spLocks noGrp="1"/>
          </p:cNvSpPr>
          <p:nvPr>
            <p:ph idx="1"/>
          </p:nvPr>
        </p:nvSpPr>
        <p:spPr/>
        <p:txBody>
          <a:bodyPr>
            <a:normAutofit/>
          </a:bodyPr>
          <a:lstStyle/>
          <a:p>
            <a:r>
              <a:rPr lang="en-GB" b="1" dirty="0"/>
              <a:t>Four categories of value:</a:t>
            </a:r>
            <a:endParaRPr lang="en-GB" dirty="0"/>
          </a:p>
          <a:p>
            <a:r>
              <a:rPr lang="en-GB" b="1" dirty="0"/>
              <a:t>1. Time savings</a:t>
            </a:r>
            <a:br>
              <a:rPr lang="en-GB" dirty="0"/>
            </a:br>
            <a:r>
              <a:rPr lang="en-GB" b="1" dirty="0"/>
              <a:t>2. Scale</a:t>
            </a:r>
            <a:br>
              <a:rPr lang="en-GB" dirty="0"/>
            </a:br>
            <a:r>
              <a:rPr lang="en-GB" b="1" dirty="0"/>
              <a:t>3. Pricing guidance</a:t>
            </a:r>
            <a:br>
              <a:rPr lang="en-GB" dirty="0"/>
            </a:br>
            <a:r>
              <a:rPr lang="en-GB" dirty="0"/>
              <a:t>Agents can use MAE as a confidence band around a listing price (e.g., ±12.5% on AED 2M properties).</a:t>
            </a:r>
          </a:p>
          <a:p>
            <a:r>
              <a:rPr lang="en-GB" b="1" dirty="0"/>
              <a:t>4. Bias reduction</a:t>
            </a:r>
            <a:br>
              <a:rPr lang="en-GB" dirty="0"/>
            </a:br>
            <a:r>
              <a:rPr lang="en-GB" dirty="0"/>
              <a:t>The model applies identical feature weightings to every property, eliminating individual agent subjectivity.</a:t>
            </a:r>
          </a:p>
          <a:p>
            <a:endParaRPr lang="en-US" dirty="0"/>
          </a:p>
        </p:txBody>
      </p:sp>
    </p:spTree>
    <p:extLst>
      <p:ext uri="{BB962C8B-B14F-4D97-AF65-F5344CB8AC3E}">
        <p14:creationId xmlns:p14="http://schemas.microsoft.com/office/powerpoint/2010/main" val="258162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84B0E-F9C7-BDA6-11F8-FAD07460D1A0}"/>
              </a:ext>
            </a:extLst>
          </p:cNvPr>
          <p:cNvSpPr>
            <a:spLocks noGrp="1"/>
          </p:cNvSpPr>
          <p:nvPr>
            <p:ph type="title"/>
          </p:nvPr>
        </p:nvSpPr>
        <p:spPr/>
        <p:txBody>
          <a:bodyPr/>
          <a:lstStyle/>
          <a:p>
            <a:pPr algn="ctr"/>
            <a:r>
              <a:rPr lang="en-GB" dirty="0"/>
              <a:t>Limitations &amp; Challenges</a:t>
            </a:r>
            <a:endParaRPr lang="en-US" dirty="0"/>
          </a:p>
        </p:txBody>
      </p:sp>
      <p:sp>
        <p:nvSpPr>
          <p:cNvPr id="3" name="Content Placeholder 2">
            <a:extLst>
              <a:ext uri="{FF2B5EF4-FFF2-40B4-BE49-F238E27FC236}">
                <a16:creationId xmlns:a16="http://schemas.microsoft.com/office/drawing/2014/main" id="{D6F0472F-ED32-F5B3-830A-982B4B4C2732}"/>
              </a:ext>
            </a:extLst>
          </p:cNvPr>
          <p:cNvSpPr>
            <a:spLocks noGrp="1"/>
          </p:cNvSpPr>
          <p:nvPr>
            <p:ph idx="1"/>
          </p:nvPr>
        </p:nvSpPr>
        <p:spPr/>
        <p:txBody>
          <a:bodyPr>
            <a:normAutofit lnSpcReduction="10000"/>
          </a:bodyPr>
          <a:lstStyle/>
          <a:p>
            <a:r>
              <a:rPr lang="en-GB" b="1" dirty="0"/>
              <a:t>Data limitations:</a:t>
            </a:r>
            <a:endParaRPr lang="en-GB" dirty="0"/>
          </a:p>
          <a:p>
            <a:pPr lvl="1"/>
            <a:r>
              <a:rPr lang="en-GB" dirty="0"/>
              <a:t>5,058 records is small for a market as diverse as the UAE</a:t>
            </a:r>
            <a:endParaRPr lang="cs-CZ" dirty="0"/>
          </a:p>
          <a:p>
            <a:pPr lvl="1"/>
            <a:r>
              <a:rPr lang="en-GB" dirty="0"/>
              <a:t>Dataset contains </a:t>
            </a:r>
            <a:r>
              <a:rPr lang="en-GB" i="1" dirty="0"/>
              <a:t>listing prices</a:t>
            </a:r>
            <a:r>
              <a:rPr lang="en-GB" dirty="0"/>
              <a:t>, not confirmed sale transaction prices</a:t>
            </a:r>
            <a:endParaRPr lang="cs-CZ" dirty="0"/>
          </a:p>
          <a:p>
            <a:pPr lvl="1"/>
            <a:r>
              <a:rPr lang="en-GB" dirty="0"/>
              <a:t>Missing features: floor level, view type, building age, proximity to landmarks</a:t>
            </a:r>
          </a:p>
          <a:p>
            <a:r>
              <a:rPr lang="en-GB" b="1" dirty="0"/>
              <a:t>Technical limitations:</a:t>
            </a:r>
            <a:endParaRPr lang="en-GB" dirty="0"/>
          </a:p>
          <a:p>
            <a:pPr lvl="1"/>
            <a:r>
              <a:rPr lang="en-GB" dirty="0"/>
              <a:t>Property descriptions</a:t>
            </a:r>
            <a:endParaRPr lang="cs-CZ" dirty="0"/>
          </a:p>
          <a:p>
            <a:pPr lvl="1"/>
            <a:r>
              <a:rPr lang="en-GB" dirty="0"/>
              <a:t>No feature importance output from</a:t>
            </a:r>
            <a:r>
              <a:rPr lang="cs-CZ" dirty="0"/>
              <a:t> HGB</a:t>
            </a:r>
            <a:endParaRPr lang="en-GB" dirty="0"/>
          </a:p>
          <a:p>
            <a:pPr lvl="1"/>
            <a:r>
              <a:rPr lang="en-GB" dirty="0"/>
              <a:t>Static model</a:t>
            </a:r>
            <a:endParaRPr lang="cs-CZ" dirty="0"/>
          </a:p>
          <a:p>
            <a:r>
              <a:rPr lang="en-GB" b="1" dirty="0"/>
              <a:t>Ethical considerations:</a:t>
            </a:r>
            <a:endParaRPr lang="en-GB" dirty="0"/>
          </a:p>
          <a:p>
            <a:pPr lvl="1"/>
            <a:r>
              <a:rPr lang="en-GB" dirty="0"/>
              <a:t>Geographic bias</a:t>
            </a:r>
          </a:p>
        </p:txBody>
      </p:sp>
    </p:spTree>
    <p:extLst>
      <p:ext uri="{BB962C8B-B14F-4D97-AF65-F5344CB8AC3E}">
        <p14:creationId xmlns:p14="http://schemas.microsoft.com/office/powerpoint/2010/main" val="2699745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6B99E-20A7-1F04-7294-E4480A240EE7}"/>
              </a:ext>
            </a:extLst>
          </p:cNvPr>
          <p:cNvSpPr>
            <a:spLocks noGrp="1"/>
          </p:cNvSpPr>
          <p:nvPr>
            <p:ph type="title"/>
          </p:nvPr>
        </p:nvSpPr>
        <p:spPr/>
        <p:txBody>
          <a:bodyPr/>
          <a:lstStyle/>
          <a:p>
            <a:pPr algn="ctr"/>
            <a:r>
              <a:rPr lang="en-GB" dirty="0"/>
              <a:t>Lessons Learned</a:t>
            </a:r>
            <a:endParaRPr lang="en-US" dirty="0"/>
          </a:p>
        </p:txBody>
      </p:sp>
      <p:sp>
        <p:nvSpPr>
          <p:cNvPr id="3" name="Content Placeholder 2">
            <a:extLst>
              <a:ext uri="{FF2B5EF4-FFF2-40B4-BE49-F238E27FC236}">
                <a16:creationId xmlns:a16="http://schemas.microsoft.com/office/drawing/2014/main" id="{C0594A81-73FD-66AE-31C0-CA9074A2C49B}"/>
              </a:ext>
            </a:extLst>
          </p:cNvPr>
          <p:cNvSpPr>
            <a:spLocks noGrp="1"/>
          </p:cNvSpPr>
          <p:nvPr>
            <p:ph idx="1"/>
          </p:nvPr>
        </p:nvSpPr>
        <p:spPr/>
        <p:txBody>
          <a:bodyPr>
            <a:normAutofit fontScale="92500"/>
          </a:bodyPr>
          <a:lstStyle/>
          <a:p>
            <a:r>
              <a:rPr lang="en-GB" b="1" dirty="0"/>
              <a:t>1. Preprocessing is everything</a:t>
            </a:r>
            <a:br>
              <a:rPr lang="en-GB" dirty="0"/>
            </a:br>
            <a:endParaRPr lang="cs-CZ" dirty="0"/>
          </a:p>
          <a:p>
            <a:r>
              <a:rPr lang="en-GB" b="1" dirty="0"/>
              <a:t>2. Log-transforming the target variable is essential for real estate</a:t>
            </a:r>
            <a:br>
              <a:rPr lang="en-GB" dirty="0"/>
            </a:br>
            <a:endParaRPr lang="cs-CZ" dirty="0"/>
          </a:p>
          <a:p>
            <a:r>
              <a:rPr lang="en-GB" b="1" dirty="0"/>
              <a:t>3. Pipeline encapsulation prevents data leakage</a:t>
            </a:r>
            <a:br>
              <a:rPr lang="en-GB" dirty="0"/>
            </a:br>
            <a:endParaRPr lang="cs-CZ" dirty="0"/>
          </a:p>
          <a:p>
            <a:r>
              <a:rPr lang="en-GB" b="1" dirty="0"/>
              <a:t>4. Tune preprocessing alongside model hyperparameters</a:t>
            </a:r>
            <a:br>
              <a:rPr lang="en-GB" dirty="0"/>
            </a:br>
            <a:endParaRPr lang="cs-CZ" dirty="0"/>
          </a:p>
          <a:p>
            <a:r>
              <a:rPr lang="en-GB" b="1" dirty="0"/>
              <a:t>5. Stratified splitting by price is essential</a:t>
            </a:r>
            <a:br>
              <a:rPr lang="en-GB" dirty="0"/>
            </a:br>
            <a:endParaRPr lang="en-US" dirty="0"/>
          </a:p>
        </p:txBody>
      </p:sp>
    </p:spTree>
    <p:extLst>
      <p:ext uri="{BB962C8B-B14F-4D97-AF65-F5344CB8AC3E}">
        <p14:creationId xmlns:p14="http://schemas.microsoft.com/office/powerpoint/2010/main" val="2726192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AE5EB-17CC-FA8C-E4E4-68E0F49CB59A}"/>
              </a:ext>
            </a:extLst>
          </p:cNvPr>
          <p:cNvSpPr>
            <a:spLocks noGrp="1"/>
          </p:cNvSpPr>
          <p:nvPr>
            <p:ph type="title"/>
          </p:nvPr>
        </p:nvSpPr>
        <p:spPr/>
        <p:txBody>
          <a:bodyPr/>
          <a:lstStyle/>
          <a:p>
            <a:pPr algn="ctr"/>
            <a:r>
              <a:rPr lang="en-GB" dirty="0"/>
              <a:t>Recommendations for Deployment</a:t>
            </a:r>
            <a:endParaRPr lang="en-US" dirty="0"/>
          </a:p>
        </p:txBody>
      </p:sp>
      <p:sp>
        <p:nvSpPr>
          <p:cNvPr id="3" name="Content Placeholder 2">
            <a:extLst>
              <a:ext uri="{FF2B5EF4-FFF2-40B4-BE49-F238E27FC236}">
                <a16:creationId xmlns:a16="http://schemas.microsoft.com/office/drawing/2014/main" id="{5E45D377-A611-3FA0-F19C-40306715E395}"/>
              </a:ext>
            </a:extLst>
          </p:cNvPr>
          <p:cNvSpPr>
            <a:spLocks noGrp="1"/>
          </p:cNvSpPr>
          <p:nvPr>
            <p:ph idx="1"/>
          </p:nvPr>
        </p:nvSpPr>
        <p:spPr/>
        <p:txBody>
          <a:bodyPr>
            <a:normAutofit/>
          </a:bodyPr>
          <a:lstStyle/>
          <a:p>
            <a:r>
              <a:rPr lang="en-GB" b="1" dirty="0"/>
              <a:t>Proposed architecture:</a:t>
            </a:r>
            <a:endParaRPr lang="en-GB" dirty="0"/>
          </a:p>
          <a:p>
            <a:pPr lvl="1"/>
            <a:r>
              <a:rPr lang="en-GB" dirty="0"/>
              <a:t>Store </a:t>
            </a:r>
            <a:r>
              <a:rPr lang="en-GB" dirty="0" err="1"/>
              <a:t>predictor.pkl</a:t>
            </a:r>
            <a:r>
              <a:rPr lang="en-GB" dirty="0"/>
              <a:t> in a versioned object store (AWS S3 / Azure Blob) with access logging</a:t>
            </a:r>
          </a:p>
          <a:p>
            <a:pPr lvl="1"/>
            <a:r>
              <a:rPr lang="en-GB" dirty="0"/>
              <a:t>Expose a REST API endpoint (/predict) via </a:t>
            </a:r>
            <a:r>
              <a:rPr lang="en-GB" dirty="0" err="1"/>
              <a:t>FastAPI</a:t>
            </a:r>
            <a:r>
              <a:rPr lang="en-GB" dirty="0"/>
              <a:t> or Flask </a:t>
            </a:r>
            <a:r>
              <a:rPr lang="cs-CZ" dirty="0"/>
              <a:t>– </a:t>
            </a:r>
            <a:r>
              <a:rPr lang="en-GB" dirty="0"/>
              <a:t>accepts JSON property attributes, returns predicted price</a:t>
            </a:r>
            <a:endParaRPr lang="cs-CZ" dirty="0"/>
          </a:p>
          <a:p>
            <a:pPr lvl="1"/>
            <a:r>
              <a:rPr lang="en-GB" dirty="0"/>
              <a:t>Integrate as an "Estimated Value" widget on listing </a:t>
            </a:r>
            <a:endParaRPr lang="cs-CZ" dirty="0"/>
          </a:p>
          <a:p>
            <a:pPr lvl="1"/>
            <a:r>
              <a:rPr lang="en-GB" dirty="0"/>
              <a:t>Run A/B test on initial deployment: show model-assisted prices alongside manual prices, measure time-on-market impact</a:t>
            </a:r>
          </a:p>
          <a:p>
            <a:r>
              <a:rPr lang="en-GB" b="1" dirty="0"/>
              <a:t>Retraining plan:</a:t>
            </a:r>
            <a:endParaRPr lang="en-GB" dirty="0"/>
          </a:p>
          <a:p>
            <a:pPr lvl="1"/>
            <a:r>
              <a:rPr lang="en-GB" dirty="0"/>
              <a:t>Monitor live prediction vs. eventual sale price to detect model drift early</a:t>
            </a:r>
          </a:p>
          <a:p>
            <a:pPr lvl="1"/>
            <a:r>
              <a:rPr lang="en-GB" dirty="0"/>
              <a:t>Automate data ingestion from UAE listing</a:t>
            </a:r>
            <a:r>
              <a:rPr lang="cs-CZ" dirty="0"/>
              <a:t> </a:t>
            </a:r>
            <a:r>
              <a:rPr lang="cs-CZ" dirty="0" err="1"/>
              <a:t>platforms</a:t>
            </a:r>
            <a:endParaRPr lang="en-GB" dirty="0"/>
          </a:p>
          <a:p>
            <a:endParaRPr lang="en-US" dirty="0"/>
          </a:p>
        </p:txBody>
      </p:sp>
    </p:spTree>
    <p:extLst>
      <p:ext uri="{BB962C8B-B14F-4D97-AF65-F5344CB8AC3E}">
        <p14:creationId xmlns:p14="http://schemas.microsoft.com/office/powerpoint/2010/main" val="3365487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A21AD-374E-531A-1969-81D60DC0406E}"/>
              </a:ext>
            </a:extLst>
          </p:cNvPr>
          <p:cNvSpPr>
            <a:spLocks noGrp="1"/>
          </p:cNvSpPr>
          <p:nvPr>
            <p:ph type="title"/>
          </p:nvPr>
        </p:nvSpPr>
        <p:spPr/>
        <p:txBody>
          <a:bodyPr/>
          <a:lstStyle/>
          <a:p>
            <a:r>
              <a:rPr lang="en-GB" dirty="0"/>
              <a:t>Future Work &amp; Broader Applications</a:t>
            </a:r>
            <a:endParaRPr lang="en-US" dirty="0"/>
          </a:p>
        </p:txBody>
      </p:sp>
      <p:sp>
        <p:nvSpPr>
          <p:cNvPr id="3" name="Content Placeholder 2">
            <a:extLst>
              <a:ext uri="{FF2B5EF4-FFF2-40B4-BE49-F238E27FC236}">
                <a16:creationId xmlns:a16="http://schemas.microsoft.com/office/drawing/2014/main" id="{FE453AA7-126C-14BF-92D2-5889DF6EA567}"/>
              </a:ext>
            </a:extLst>
          </p:cNvPr>
          <p:cNvSpPr>
            <a:spLocks noGrp="1"/>
          </p:cNvSpPr>
          <p:nvPr>
            <p:ph idx="1"/>
          </p:nvPr>
        </p:nvSpPr>
        <p:spPr/>
        <p:txBody>
          <a:bodyPr>
            <a:normAutofit fontScale="92500" lnSpcReduction="20000"/>
          </a:bodyPr>
          <a:lstStyle/>
          <a:p>
            <a:r>
              <a:rPr lang="en-GB" b="1" dirty="0"/>
              <a:t>Proposed enhancements:</a:t>
            </a:r>
            <a:endParaRPr lang="en-GB" dirty="0"/>
          </a:p>
          <a:p>
            <a:r>
              <a:rPr lang="en-GB" b="1" dirty="0"/>
              <a:t>Transaction price data</a:t>
            </a:r>
            <a:endParaRPr lang="cs-CZ" b="1" dirty="0"/>
          </a:p>
          <a:p>
            <a:r>
              <a:rPr lang="en-GB" b="1" dirty="0"/>
              <a:t>NLP on descriptions</a:t>
            </a:r>
            <a:endParaRPr lang="cs-CZ" b="1" dirty="0"/>
          </a:p>
          <a:p>
            <a:r>
              <a:rPr lang="en-GB" b="1" dirty="0"/>
              <a:t>Geographic distance features</a:t>
            </a:r>
            <a:endParaRPr lang="en-GB" dirty="0"/>
          </a:p>
          <a:p>
            <a:r>
              <a:rPr lang="en-GB" b="1" dirty="0"/>
              <a:t>SHAP explainability</a:t>
            </a:r>
            <a:endParaRPr lang="cs-CZ" b="1" dirty="0"/>
          </a:p>
          <a:p>
            <a:r>
              <a:rPr lang="en-GB" b="1" dirty="0"/>
              <a:t>Automatic retraining pipeline</a:t>
            </a:r>
            <a:endParaRPr lang="en-GB" dirty="0"/>
          </a:p>
          <a:p>
            <a:r>
              <a:rPr lang="en-GB" b="1" dirty="0"/>
              <a:t>Broader applications:</a:t>
            </a:r>
            <a:endParaRPr lang="en-GB" dirty="0"/>
          </a:p>
          <a:p>
            <a:pPr lvl="1"/>
            <a:r>
              <a:rPr lang="en-GB" dirty="0"/>
              <a:t>GCC expansion</a:t>
            </a:r>
            <a:endParaRPr lang="cs-CZ" dirty="0"/>
          </a:p>
          <a:p>
            <a:pPr lvl="1"/>
            <a:r>
              <a:rPr lang="en-GB" dirty="0"/>
              <a:t>Commercial real estate</a:t>
            </a:r>
          </a:p>
          <a:p>
            <a:pPr lvl="1"/>
            <a:r>
              <a:rPr lang="en-GB" dirty="0"/>
              <a:t>Rental price prediction</a:t>
            </a:r>
            <a:endParaRPr lang="cs-CZ" dirty="0"/>
          </a:p>
          <a:p>
            <a:r>
              <a:rPr lang="cs-CZ" b="1" dirty="0" err="1"/>
              <a:t>GridSearchCV</a:t>
            </a:r>
            <a:r>
              <a:rPr lang="cs-CZ" b="1" dirty="0"/>
              <a:t> </a:t>
            </a:r>
            <a:r>
              <a:rPr lang="cs-CZ" b="1" dirty="0" err="1"/>
              <a:t>around</a:t>
            </a:r>
            <a:r>
              <a:rPr lang="cs-CZ" b="1" dirty="0"/>
              <a:t> </a:t>
            </a:r>
            <a:r>
              <a:rPr lang="cs-CZ" b="1" dirty="0" err="1"/>
              <a:t>found</a:t>
            </a:r>
            <a:r>
              <a:rPr lang="cs-CZ" b="1" dirty="0"/>
              <a:t> </a:t>
            </a:r>
            <a:r>
              <a:rPr lang="cs-CZ" b="1" dirty="0" err="1"/>
              <a:t>RandomSearchCV</a:t>
            </a:r>
            <a:r>
              <a:rPr lang="cs-CZ" b="1" dirty="0"/>
              <a:t> </a:t>
            </a:r>
            <a:r>
              <a:rPr lang="cs-CZ" b="1" dirty="0" err="1"/>
              <a:t>parameters</a:t>
            </a:r>
            <a:endParaRPr lang="cs-CZ" b="1" dirty="0"/>
          </a:p>
        </p:txBody>
      </p:sp>
    </p:spTree>
    <p:extLst>
      <p:ext uri="{BB962C8B-B14F-4D97-AF65-F5344CB8AC3E}">
        <p14:creationId xmlns:p14="http://schemas.microsoft.com/office/powerpoint/2010/main" val="1951981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98677-9664-49E9-8EF1-2D804671CA4D}"/>
              </a:ext>
            </a:extLst>
          </p:cNvPr>
          <p:cNvSpPr>
            <a:spLocks noGrp="1"/>
          </p:cNvSpPr>
          <p:nvPr>
            <p:ph type="title"/>
          </p:nvPr>
        </p:nvSpPr>
        <p:spPr/>
        <p:txBody>
          <a:bodyPr/>
          <a:lstStyle/>
          <a:p>
            <a:pPr algn="ctr"/>
            <a:r>
              <a:rPr lang="en-GB" dirty="0"/>
              <a:t>Summary &amp; Q&amp;A</a:t>
            </a:r>
            <a:endParaRPr lang="en-US" dirty="0"/>
          </a:p>
        </p:txBody>
      </p:sp>
      <p:sp>
        <p:nvSpPr>
          <p:cNvPr id="3" name="Content Placeholder 2">
            <a:extLst>
              <a:ext uri="{FF2B5EF4-FFF2-40B4-BE49-F238E27FC236}">
                <a16:creationId xmlns:a16="http://schemas.microsoft.com/office/drawing/2014/main" id="{C821F668-BB78-2440-D97F-624E922C507B}"/>
              </a:ext>
            </a:extLst>
          </p:cNvPr>
          <p:cNvSpPr>
            <a:spLocks noGrp="1"/>
          </p:cNvSpPr>
          <p:nvPr>
            <p:ph idx="1"/>
          </p:nvPr>
        </p:nvSpPr>
        <p:spPr/>
        <p:txBody>
          <a:bodyPr>
            <a:normAutofit/>
          </a:bodyPr>
          <a:lstStyle/>
          <a:p>
            <a:r>
              <a:rPr lang="en-GB" b="1" dirty="0"/>
              <a:t>What we built:</a:t>
            </a:r>
            <a:endParaRPr lang="en-GB" dirty="0"/>
          </a:p>
          <a:p>
            <a:pPr lvl="1"/>
            <a:r>
              <a:rPr lang="en-GB" dirty="0"/>
              <a:t>A supervised ML</a:t>
            </a:r>
            <a:r>
              <a:rPr lang="cs-CZ" dirty="0"/>
              <a:t> model </a:t>
            </a:r>
            <a:r>
              <a:rPr lang="cs-CZ" dirty="0" err="1"/>
              <a:t>that</a:t>
            </a:r>
            <a:r>
              <a:rPr lang="cs-CZ" dirty="0"/>
              <a:t> </a:t>
            </a:r>
            <a:r>
              <a:rPr lang="en-GB" dirty="0"/>
              <a:t>explains 78% of price variance on unseen data</a:t>
            </a:r>
          </a:p>
          <a:p>
            <a:pPr lvl="1"/>
            <a:r>
              <a:rPr lang="en-GB" dirty="0"/>
              <a:t>Interactive </a:t>
            </a:r>
            <a:r>
              <a:rPr lang="cs-CZ" dirty="0" err="1"/>
              <a:t>implementation</a:t>
            </a:r>
            <a:r>
              <a:rPr lang="cs-CZ" dirty="0"/>
              <a:t> </a:t>
            </a:r>
            <a:r>
              <a:rPr lang="cs-CZ" dirty="0" err="1"/>
              <a:t>example</a:t>
            </a:r>
            <a:endParaRPr lang="en-GB" dirty="0"/>
          </a:p>
          <a:p>
            <a:r>
              <a:rPr lang="en-GB" b="1" dirty="0"/>
              <a:t>Key takeaways:</a:t>
            </a:r>
            <a:endParaRPr lang="en-GB" dirty="0"/>
          </a:p>
          <a:p>
            <a:pPr lvl="1"/>
            <a:r>
              <a:rPr lang="en-GB" dirty="0"/>
              <a:t>Preprocessing</a:t>
            </a:r>
            <a:endParaRPr lang="cs-CZ" dirty="0"/>
          </a:p>
          <a:p>
            <a:pPr lvl="1"/>
            <a:r>
              <a:rPr lang="cs-CZ" dirty="0" err="1"/>
              <a:t>Meaningful</a:t>
            </a:r>
            <a:r>
              <a:rPr lang="cs-CZ" dirty="0"/>
              <a:t> </a:t>
            </a:r>
            <a:r>
              <a:rPr lang="en-GB" dirty="0"/>
              <a:t>business value</a:t>
            </a:r>
          </a:p>
          <a:p>
            <a:pPr lvl="1"/>
            <a:r>
              <a:rPr lang="en-GB" dirty="0"/>
              <a:t>Limitations </a:t>
            </a:r>
            <a:endParaRPr lang="cs-CZ" dirty="0"/>
          </a:p>
          <a:p>
            <a:pPr marL="0" indent="0" algn="ctr">
              <a:buNone/>
            </a:pPr>
            <a:r>
              <a:rPr lang="en-GB" b="1" dirty="0"/>
              <a:t>Thank you. Questions?</a:t>
            </a:r>
            <a:endParaRPr lang="en-GB" dirty="0"/>
          </a:p>
          <a:p>
            <a:endParaRPr lang="en-US" dirty="0"/>
          </a:p>
        </p:txBody>
      </p:sp>
    </p:spTree>
    <p:extLst>
      <p:ext uri="{BB962C8B-B14F-4D97-AF65-F5344CB8AC3E}">
        <p14:creationId xmlns:p14="http://schemas.microsoft.com/office/powerpoint/2010/main" val="15738650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257</TotalTime>
  <Words>2326</Words>
  <Application>Microsoft Office PowerPoint</Application>
  <PresentationFormat>Widescreen</PresentationFormat>
  <Paragraphs>245</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UAE Real Estate Price Prediction</vt:lpstr>
      <vt:lpstr>The Problem UAE Real Estate Is Hard to Price</vt:lpstr>
      <vt:lpstr>Solution Machine Learning</vt:lpstr>
      <vt:lpstr>Dataset and Preprocessing</vt:lpstr>
      <vt:lpstr>Feature Engineering &amp; Pipeline Architecture</vt:lpstr>
      <vt:lpstr>Four Models Compared</vt:lpstr>
      <vt:lpstr>Hyperparameter Tuning</vt:lpstr>
      <vt:lpstr>Results Model Performance</vt:lpstr>
      <vt:lpstr>Final Test Set Performance</vt:lpstr>
      <vt:lpstr>Business Impact</vt:lpstr>
      <vt:lpstr>Limitations &amp; Challenges</vt:lpstr>
      <vt:lpstr>Lessons Learned</vt:lpstr>
      <vt:lpstr>Recommendations for Deployment</vt:lpstr>
      <vt:lpstr>Future Work &amp; Broader Applications</vt:lpstr>
      <vt:lpstr>Summary &amp; 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 Hrusa</dc:creator>
  <cp:lastModifiedBy>Jan Hrusa</cp:lastModifiedBy>
  <cp:revision>6</cp:revision>
  <dcterms:created xsi:type="dcterms:W3CDTF">2026-06-21T03:30:10Z</dcterms:created>
  <dcterms:modified xsi:type="dcterms:W3CDTF">2026-06-21T18:02:27Z</dcterms:modified>
</cp:coreProperties>
</file>